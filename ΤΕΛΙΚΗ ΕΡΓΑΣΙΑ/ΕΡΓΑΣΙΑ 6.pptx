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1 - Τίτλος"/>
          <p:cNvSpPr>
            <a:spLocks noGrp="1"/>
          </p:cNvSpPr>
          <p:nvPr>
            <p:ph type="ctrTitle"/>
          </p:nvPr>
        </p:nvSpPr>
        <p:spPr>
          <a:xfrm>
            <a:off x="685800" y="2130425"/>
            <a:ext cx="7772400" cy="1470025"/>
          </a:xfrm>
        </p:spPr>
        <p:txBody>
          <a:bodyPr/>
          <a:lstStyle/>
          <a:p>
            <a:r>
              <a:rPr lang="el-GR" smtClean="0"/>
              <a:t>Kλικ για επεξεργασία του τίτλου</a:t>
            </a:r>
            <a:endParaRPr lang="el-GR"/>
          </a:p>
        </p:txBody>
      </p:sp>
      <p:sp>
        <p:nvSpPr>
          <p:cNvPr id="3" name="2 - Υπότιτλος"/>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smtClean="0"/>
              <a:t>Κάντε κλικ για να επεξεργαστείτε τον υπότιτλο του υποδείγματος</a:t>
            </a:r>
            <a:endParaRPr lang="el-GR"/>
          </a:p>
        </p:txBody>
      </p:sp>
      <p:sp>
        <p:nvSpPr>
          <p:cNvPr id="4" name="3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Αντι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idx="1"/>
          </p:nvPr>
        </p:nvSpPr>
        <p:spPr/>
        <p:txBody>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1 - Τίτλος"/>
          <p:cNvSpPr>
            <a:spLocks noGrp="1"/>
          </p:cNvSpPr>
          <p:nvPr>
            <p:ph type="title"/>
          </p:nvPr>
        </p:nvSpPr>
        <p:spPr>
          <a:xfrm>
            <a:off x="722313" y="4406900"/>
            <a:ext cx="7772400" cy="1362075"/>
          </a:xfrm>
        </p:spPr>
        <p:txBody>
          <a:bodyPr anchor="t"/>
          <a:lstStyle>
            <a:lvl1pPr algn="l">
              <a:defRPr sz="4000" b="1" cap="all"/>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smtClean="0"/>
              <a:t>Kλικ για επεξεργασία των στυλ του υποδείγματος</a:t>
            </a:r>
          </a:p>
        </p:txBody>
      </p:sp>
      <p:sp>
        <p:nvSpPr>
          <p:cNvPr id="4" name="3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περιεχομένου"/>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περιεχομένου"/>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4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lvl1pPr>
              <a:defRPr/>
            </a:lvl1p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4" name="3 - Θέση περιεχομένου"/>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5" name="4 - Θέση κειμένου"/>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smtClean="0"/>
              <a:t>Kλικ για επεξεργασία των στυλ του υποδείγματος</a:t>
            </a:r>
          </a:p>
        </p:txBody>
      </p:sp>
      <p:sp>
        <p:nvSpPr>
          <p:cNvPr id="6" name="5 - Θέση περιεχομένου"/>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7" name="6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8" name="7 - Θέση υποσέλιδου"/>
          <p:cNvSpPr>
            <a:spLocks noGrp="1"/>
          </p:cNvSpPr>
          <p:nvPr>
            <p:ph type="ftr" sz="quarter" idx="11"/>
          </p:nvPr>
        </p:nvSpPr>
        <p:spPr/>
        <p:txBody>
          <a:bodyPr/>
          <a:lstStyle/>
          <a:p>
            <a:endParaRPr lang="el-GR"/>
          </a:p>
        </p:txBody>
      </p:sp>
      <p:sp>
        <p:nvSpPr>
          <p:cNvPr id="9" name="8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4" name="3 - Θέση υποσέλιδου"/>
          <p:cNvSpPr>
            <a:spLocks noGrp="1"/>
          </p:cNvSpPr>
          <p:nvPr>
            <p:ph type="ftr" sz="quarter" idx="11"/>
          </p:nvPr>
        </p:nvSpPr>
        <p:spPr/>
        <p:txBody>
          <a:bodyPr/>
          <a:lstStyle/>
          <a:p>
            <a:endParaRPr lang="el-GR"/>
          </a:p>
        </p:txBody>
      </p:sp>
      <p:sp>
        <p:nvSpPr>
          <p:cNvPr id="5" name="4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1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3" name="2 - Θέση υποσέλιδου"/>
          <p:cNvSpPr>
            <a:spLocks noGrp="1"/>
          </p:cNvSpPr>
          <p:nvPr>
            <p:ph type="ftr" sz="quarter" idx="11"/>
          </p:nvPr>
        </p:nvSpPr>
        <p:spPr/>
        <p:txBody>
          <a:bodyPr/>
          <a:lstStyle/>
          <a:p>
            <a:endParaRPr lang="el-GR"/>
          </a:p>
        </p:txBody>
      </p:sp>
      <p:sp>
        <p:nvSpPr>
          <p:cNvPr id="4" name="3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457200" y="273050"/>
            <a:ext cx="3008313" cy="1162050"/>
          </a:xfrm>
        </p:spPr>
        <p:txBody>
          <a:bodyPr anchor="b"/>
          <a:lstStyle>
            <a:lvl1pPr algn="l">
              <a:defRPr sz="2000" b="1"/>
            </a:lvl1pPr>
          </a:lstStyle>
          <a:p>
            <a:r>
              <a:rPr lang="el-GR" smtClean="0"/>
              <a:t>Kλικ για επεξεργασία του τίτλου</a:t>
            </a:r>
            <a:endParaRPr lang="el-GR"/>
          </a:p>
        </p:txBody>
      </p:sp>
      <p:sp>
        <p:nvSpPr>
          <p:cNvPr id="3" name="2 - Θέση περιεχομένου"/>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κειμένου"/>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4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1 - Τίτλος"/>
          <p:cNvSpPr>
            <a:spLocks noGrp="1"/>
          </p:cNvSpPr>
          <p:nvPr>
            <p:ph type="title"/>
          </p:nvPr>
        </p:nvSpPr>
        <p:spPr>
          <a:xfrm>
            <a:off x="1792288" y="4800600"/>
            <a:ext cx="5486400" cy="566738"/>
          </a:xfrm>
        </p:spPr>
        <p:txBody>
          <a:bodyPr anchor="b"/>
          <a:lstStyle>
            <a:lvl1pPr algn="l">
              <a:defRPr sz="2000" b="1"/>
            </a:lvl1pPr>
          </a:lstStyle>
          <a:p>
            <a:r>
              <a:rPr lang="el-GR" smtClean="0"/>
              <a:t>Kλικ για επεξεργασία του τίτλου</a:t>
            </a:r>
            <a:endParaRPr lang="el-GR"/>
          </a:p>
        </p:txBody>
      </p:sp>
      <p:sp>
        <p:nvSpPr>
          <p:cNvPr id="3" name="2 - Θέση εικόνας"/>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3 - Θέση κειμένου"/>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smtClean="0"/>
              <a:t>Kλικ για επεξεργασία των στυλ του υποδείγματος</a:t>
            </a:r>
          </a:p>
        </p:txBody>
      </p:sp>
      <p:sp>
        <p:nvSpPr>
          <p:cNvPr id="5" name="4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6" name="5 - Θέση υποσέλιδου"/>
          <p:cNvSpPr>
            <a:spLocks noGrp="1"/>
          </p:cNvSpPr>
          <p:nvPr>
            <p:ph type="ftr" sz="quarter" idx="11"/>
          </p:nvPr>
        </p:nvSpPr>
        <p:spPr/>
        <p:txBody>
          <a:bodyPr/>
          <a:lstStyle/>
          <a:p>
            <a:endParaRPr lang="el-GR"/>
          </a:p>
        </p:txBody>
      </p:sp>
      <p:sp>
        <p:nvSpPr>
          <p:cNvPr id="7" name="6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1 - Κατακόρυφος τίτλος"/>
          <p:cNvSpPr>
            <a:spLocks noGrp="1"/>
          </p:cNvSpPr>
          <p:nvPr>
            <p:ph type="title" orient="vert"/>
          </p:nvPr>
        </p:nvSpPr>
        <p:spPr>
          <a:xfrm>
            <a:off x="6629400" y="274638"/>
            <a:ext cx="2057400" cy="5851525"/>
          </a:xfrm>
        </p:spPr>
        <p:txBody>
          <a:bodyPr vert="eaVert"/>
          <a:lstStyle/>
          <a:p>
            <a:r>
              <a:rPr lang="el-GR" smtClean="0"/>
              <a:t>Kλικ για επεξεργασία του τίτλου</a:t>
            </a:r>
            <a:endParaRPr lang="el-GR"/>
          </a:p>
        </p:txBody>
      </p:sp>
      <p:sp>
        <p:nvSpPr>
          <p:cNvPr id="3" name="2 - Θέση κατακόρυφου κειμένου"/>
          <p:cNvSpPr>
            <a:spLocks noGrp="1"/>
          </p:cNvSpPr>
          <p:nvPr>
            <p:ph type="body" orient="vert" idx="1"/>
          </p:nvPr>
        </p:nvSpPr>
        <p:spPr>
          <a:xfrm>
            <a:off x="457200" y="274638"/>
            <a:ext cx="6019800" cy="5851525"/>
          </a:xfrm>
        </p:spPr>
        <p:txBody>
          <a:bodyPr vert="eaVert"/>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10"/>
          </p:nvPr>
        </p:nvSpPr>
        <p:spPr/>
        <p:txBody>
          <a:bodyPr/>
          <a:lstStyle/>
          <a:p>
            <a:fld id="{5D41F18D-20F5-4C95-8B92-D39C20294011}" type="datetimeFigureOut">
              <a:rPr lang="el-GR" smtClean="0"/>
              <a:t>29/1/2026</a:t>
            </a:fld>
            <a:endParaRPr lang="el-GR"/>
          </a:p>
        </p:txBody>
      </p:sp>
      <p:sp>
        <p:nvSpPr>
          <p:cNvPr id="5" name="4 - Θέση υποσέλιδου"/>
          <p:cNvSpPr>
            <a:spLocks noGrp="1"/>
          </p:cNvSpPr>
          <p:nvPr>
            <p:ph type="ftr" sz="quarter" idx="11"/>
          </p:nvPr>
        </p:nvSpPr>
        <p:spPr/>
        <p:txBody>
          <a:bodyPr/>
          <a:lstStyle/>
          <a:p>
            <a:endParaRPr lang="el-GR"/>
          </a:p>
        </p:txBody>
      </p:sp>
      <p:sp>
        <p:nvSpPr>
          <p:cNvPr id="6" name="5 - Θέση αριθμού διαφάνειας"/>
          <p:cNvSpPr>
            <a:spLocks noGrp="1"/>
          </p:cNvSpPr>
          <p:nvPr>
            <p:ph type="sldNum" sz="quarter" idx="12"/>
          </p:nvPr>
        </p:nvSpPr>
        <p:spPr/>
        <p:txBody>
          <a:bodyPr/>
          <a:lstStyle/>
          <a:p>
            <a:fld id="{D54F0FFA-B42B-4690-8EA9-BFAEFC500F96}" type="slidenum">
              <a:rPr lang="el-GR" smtClean="0"/>
              <a:t>‹#›</a:t>
            </a:fld>
            <a:endParaRPr lang="el-G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 Θέση τίτλου"/>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l-GR" smtClean="0"/>
              <a:t>Kλικ για επεξεργασία του τίτλου</a:t>
            </a:r>
            <a:endParaRPr lang="el-GR"/>
          </a:p>
        </p:txBody>
      </p:sp>
      <p:sp>
        <p:nvSpPr>
          <p:cNvPr id="3" name="2 - Θέση κειμένου"/>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l-GR" smtClean="0"/>
              <a:t>Kλικ για επεξεργασία των στυλ του υποδείγματος</a:t>
            </a:r>
          </a:p>
          <a:p>
            <a:pPr lvl="1"/>
            <a:r>
              <a:rPr lang="el-GR" smtClean="0"/>
              <a:t>Δεύτερου επιπέδου</a:t>
            </a:r>
          </a:p>
          <a:p>
            <a:pPr lvl="2"/>
            <a:r>
              <a:rPr lang="el-GR" smtClean="0"/>
              <a:t>Τρίτου επιπέδου</a:t>
            </a:r>
          </a:p>
          <a:p>
            <a:pPr lvl="3"/>
            <a:r>
              <a:rPr lang="el-GR" smtClean="0"/>
              <a:t>Τέταρτου επιπέδου</a:t>
            </a:r>
          </a:p>
          <a:p>
            <a:pPr lvl="4"/>
            <a:r>
              <a:rPr lang="el-GR" smtClean="0"/>
              <a:t>Πέμπτου επιπέδου</a:t>
            </a:r>
            <a:endParaRPr lang="el-GR"/>
          </a:p>
        </p:txBody>
      </p:sp>
      <p:sp>
        <p:nvSpPr>
          <p:cNvPr id="4" name="3 - Θέση ημερομηνίας"/>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41F18D-20F5-4C95-8B92-D39C20294011}" type="datetimeFigureOut">
              <a:rPr lang="el-GR" smtClean="0"/>
              <a:t>29/1/2026</a:t>
            </a:fld>
            <a:endParaRPr lang="el-GR"/>
          </a:p>
        </p:txBody>
      </p:sp>
      <p:sp>
        <p:nvSpPr>
          <p:cNvPr id="5" name="4 - Θέση υποσέλιδου"/>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5 - Θέση αριθμού διαφάνειας"/>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4F0FFA-B42B-4690-8EA9-BFAEFC500F96}" type="slidenum">
              <a:rPr lang="el-GR" smtClean="0"/>
              <a:t>‹#›</a:t>
            </a:fld>
            <a:endParaRPr lang="el-G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ctrTitle"/>
          </p:nvPr>
        </p:nvSpPr>
        <p:spPr/>
        <p:txBody>
          <a:bodyPr>
            <a:normAutofit fontScale="90000"/>
          </a:bodyPr>
          <a:lstStyle/>
          <a:p>
            <a:r>
              <a:rPr lang="el-GR" b="1" dirty="0"/>
              <a:t>ΓΕΩΡΓΙΟΣ ΜΑΝΤΟΝΙΤΣΑΣ 21183	</a:t>
            </a:r>
            <a:r>
              <a:rPr lang="el-GR" dirty="0"/>
              <a:t/>
            </a:r>
            <a:br>
              <a:rPr lang="el-GR" dirty="0"/>
            </a:br>
            <a:r>
              <a:rPr lang="el-GR" b="1" dirty="0"/>
              <a:t>ΙΩΑΝΝΗΣ ΒΡΑΧΝΟΣ </a:t>
            </a:r>
            <a:r>
              <a:rPr lang="el-GR" b="1" dirty="0" smtClean="0"/>
              <a:t>20088</a:t>
            </a:r>
            <a:endParaRPr lang="el-GR" dirty="0"/>
          </a:p>
        </p:txBody>
      </p:sp>
      <p:sp>
        <p:nvSpPr>
          <p:cNvPr id="3" name="2 - Υπότιτλος"/>
          <p:cNvSpPr>
            <a:spLocks noGrp="1"/>
          </p:cNvSpPr>
          <p:nvPr>
            <p:ph type="subTitle" idx="1"/>
          </p:nvPr>
        </p:nvSpPr>
        <p:spPr/>
        <p:txBody>
          <a:bodyPr/>
          <a:lstStyle/>
          <a:p>
            <a:r>
              <a:rPr lang="el-GR" b="1" dirty="0"/>
              <a:t>ΕΡΓΑΣΙΑ 6 </a:t>
            </a:r>
            <a:endParaRPr lang="el-GR" dirty="0"/>
          </a:p>
          <a:p>
            <a:r>
              <a:rPr lang="el-GR" b="1" dirty="0"/>
              <a:t>https://github.com/ece21183-lang/fpga_projects/tree/main</a:t>
            </a:r>
            <a:endParaRPr lang="el-GR" dirty="0"/>
          </a:p>
          <a:p>
            <a:endParaRPr lang="el-G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r>
              <a:rPr lang="el-GR" b="1" dirty="0" smtClean="0"/>
              <a:t>Εισαγωγή</a:t>
            </a:r>
            <a:endParaRPr lang="el-GR" dirty="0"/>
          </a:p>
        </p:txBody>
      </p:sp>
      <p:sp>
        <p:nvSpPr>
          <p:cNvPr id="3" name="2 - Θέση περιεχομένου"/>
          <p:cNvSpPr>
            <a:spLocks noGrp="1"/>
          </p:cNvSpPr>
          <p:nvPr>
            <p:ph idx="1"/>
          </p:nvPr>
        </p:nvSpPr>
        <p:spPr/>
        <p:txBody>
          <a:bodyPr/>
          <a:lstStyle/>
          <a:p>
            <a:r>
              <a:rPr lang="el-GR" dirty="0"/>
              <a:t>Σκοπός της παρούσας άσκησης είναι η κατανόηση </a:t>
            </a:r>
            <a:r>
              <a:rPr lang="el-GR" dirty="0" smtClean="0"/>
              <a:t>της </a:t>
            </a:r>
            <a:r>
              <a:rPr lang="el-GR" dirty="0"/>
              <a:t>λειτουργίας ενός απλού </a:t>
            </a:r>
            <a:r>
              <a:rPr lang="el-GR" dirty="0" smtClean="0"/>
              <a:t>ΚΜΕ</a:t>
            </a:r>
            <a:r>
              <a:rPr lang="en-US" dirty="0" smtClean="0"/>
              <a:t> </a:t>
            </a:r>
            <a:r>
              <a:rPr lang="el-GR" dirty="0" smtClean="0"/>
              <a:t>επεξεργαστή, ο </a:t>
            </a:r>
            <a:r>
              <a:rPr lang="el-GR" dirty="0"/>
              <a:t>οποίος υλοποιείται σε γλώσσα περιγραφής υλικού VHDL και βασίζεται σε </a:t>
            </a:r>
            <a:r>
              <a:rPr lang="el-GR" dirty="0" err="1"/>
              <a:t>hardwired</a:t>
            </a:r>
            <a:r>
              <a:rPr lang="el-GR" dirty="0"/>
              <a:t> μονάδα </a:t>
            </a:r>
            <a:r>
              <a:rPr lang="el-GR" dirty="0" smtClean="0"/>
              <a:t>ελέγχου, καθώς και </a:t>
            </a:r>
            <a:r>
              <a:rPr lang="el-GR" dirty="0"/>
              <a:t>η επέκταση του επεξεργαστή με την προσθήκη νέων εντολών, συγκεκριμένα των εντολών </a:t>
            </a:r>
            <a:r>
              <a:rPr lang="el-GR" b="1" dirty="0"/>
              <a:t>LDSP</a:t>
            </a:r>
            <a:r>
              <a:rPr lang="el-GR" dirty="0"/>
              <a:t> και </a:t>
            </a:r>
            <a:r>
              <a:rPr lang="el-GR" b="1" dirty="0" smtClean="0"/>
              <a:t>CALL </a:t>
            </a:r>
            <a:r>
              <a:rPr lang="el-GR" dirty="0" smtClean="0"/>
              <a:t>και την προσθήκη ενός </a:t>
            </a:r>
            <a:r>
              <a:rPr lang="en-US" dirty="0" smtClean="0"/>
              <a:t>Stack Pointer </a:t>
            </a:r>
            <a:r>
              <a:rPr lang="el-GR" dirty="0" err="1" smtClean="0"/>
              <a:t>καταχωρητή</a:t>
            </a:r>
            <a:r>
              <a:rPr lang="el-GR" dirty="0" smtClean="0"/>
              <a:t>. </a:t>
            </a:r>
            <a:endParaRPr lang="el-G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a:t>Αρχική αρχιτεκτονική του επεξεργαστή </a:t>
            </a:r>
            <a:r>
              <a:rPr lang="el-GR" b="1" dirty="0" err="1" smtClean="0"/>
              <a:t>rs_cpu</a:t>
            </a:r>
            <a:endParaRPr lang="el-GR" dirty="0"/>
          </a:p>
        </p:txBody>
      </p:sp>
      <p:sp>
        <p:nvSpPr>
          <p:cNvPr id="3" name="2 - Θέση περιεχομένου"/>
          <p:cNvSpPr>
            <a:spLocks noGrp="1"/>
          </p:cNvSpPr>
          <p:nvPr>
            <p:ph idx="1"/>
          </p:nvPr>
        </p:nvSpPr>
        <p:spPr/>
        <p:txBody>
          <a:bodyPr>
            <a:normAutofit fontScale="85000" lnSpcReduction="20000"/>
          </a:bodyPr>
          <a:lstStyle/>
          <a:p>
            <a:r>
              <a:rPr lang="el-GR" dirty="0"/>
              <a:t>Στην αρχική του μορφή, ο επεξεργαστής υποστηρίζει μόνο τον βασικό κύκλο ανάκτησης </a:t>
            </a:r>
            <a:r>
              <a:rPr lang="el-GR" dirty="0" smtClean="0"/>
              <a:t>εντολής, χωρίς </a:t>
            </a:r>
            <a:r>
              <a:rPr lang="el-GR" dirty="0"/>
              <a:t>ουσιαστική εκτέλεση σύνθετων εντολών. Παρ’ όλα αυτά, περιλαμβάνει τις βασικές δομικές μονάδες που συναντώνται σε έναν πραγματικό επεξεργαστή</a:t>
            </a:r>
            <a:r>
              <a:rPr lang="el-GR" dirty="0" smtClean="0"/>
              <a:t>. </a:t>
            </a:r>
            <a:r>
              <a:rPr lang="el-GR" dirty="0"/>
              <a:t>Η αρχιτεκτονική του </a:t>
            </a:r>
            <a:r>
              <a:rPr lang="el-GR" dirty="0" err="1"/>
              <a:t>rs_cpu</a:t>
            </a:r>
            <a:r>
              <a:rPr lang="el-GR" dirty="0"/>
              <a:t> αποτελείται από</a:t>
            </a:r>
            <a:r>
              <a:rPr lang="el-GR" dirty="0" smtClean="0"/>
              <a:t>:</a:t>
            </a:r>
          </a:p>
          <a:p>
            <a:pPr lvl="0"/>
            <a:r>
              <a:rPr lang="el-GR" dirty="0"/>
              <a:t>σύνολο </a:t>
            </a:r>
            <a:r>
              <a:rPr lang="el-GR" dirty="0" err="1" smtClean="0"/>
              <a:t>καταχωρητών</a:t>
            </a:r>
            <a:endParaRPr lang="el-GR" dirty="0"/>
          </a:p>
          <a:p>
            <a:pPr lvl="0"/>
            <a:r>
              <a:rPr lang="el-GR" dirty="0"/>
              <a:t>κοινό δίαυλο δεδομένων (data bus</a:t>
            </a:r>
            <a:r>
              <a:rPr lang="el-GR" dirty="0" smtClean="0"/>
              <a:t>)</a:t>
            </a:r>
          </a:p>
          <a:p>
            <a:pPr lvl="0"/>
            <a:r>
              <a:rPr lang="el-GR" dirty="0"/>
              <a:t>εξωτερική μνήμη RAM</a:t>
            </a:r>
            <a:r>
              <a:rPr lang="el-GR" dirty="0" smtClean="0"/>
              <a:t>,</a:t>
            </a:r>
          </a:p>
          <a:p>
            <a:r>
              <a:rPr lang="el-GR" dirty="0"/>
              <a:t>μονάδα ελέγχου (</a:t>
            </a:r>
            <a:r>
              <a:rPr lang="el-GR" dirty="0" err="1"/>
              <a:t>hardwired</a:t>
            </a:r>
            <a:r>
              <a:rPr lang="el-GR" dirty="0"/>
              <a:t> </a:t>
            </a:r>
            <a:r>
              <a:rPr lang="el-GR" dirty="0" err="1"/>
              <a:t>control</a:t>
            </a:r>
            <a:r>
              <a:rPr lang="el-GR" dirty="0" smtClean="0"/>
              <a:t>)</a:t>
            </a:r>
            <a:endParaRPr lang="el-GR" dirty="0"/>
          </a:p>
          <a:p>
            <a:r>
              <a:rPr lang="el-GR" dirty="0"/>
              <a:t>και βοηθητικές μονάδες (ALU </a:t>
            </a:r>
            <a:r>
              <a:rPr lang="el-GR" dirty="0" err="1"/>
              <a:t>control</a:t>
            </a:r>
            <a:r>
              <a:rPr lang="el-GR" dirty="0"/>
              <a:t>, βιβλιοθήκες</a:t>
            </a:r>
            <a:r>
              <a:rPr lang="el-GR" dirty="0" smtClean="0"/>
              <a:t>)</a:t>
            </a:r>
            <a:endParaRPr lang="el-GR" dirty="0"/>
          </a:p>
          <a:p>
            <a:endParaRPr lang="el-GR" dirty="0"/>
          </a:p>
          <a:p>
            <a:endParaRPr lang="el-GR" dirty="0"/>
          </a:p>
          <a:p>
            <a:endParaRPr lang="el-G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err="1"/>
              <a:t>Καταχωρητές</a:t>
            </a:r>
            <a:r>
              <a:rPr lang="el-GR" b="1" dirty="0"/>
              <a:t> του αρχικού </a:t>
            </a:r>
            <a:r>
              <a:rPr lang="el-GR" b="1" dirty="0" smtClean="0"/>
              <a:t>επεξεργαστή</a:t>
            </a:r>
            <a:endParaRPr lang="el-GR" dirty="0"/>
          </a:p>
        </p:txBody>
      </p:sp>
      <p:sp>
        <p:nvSpPr>
          <p:cNvPr id="3" name="2 - Θέση περιεχομένου"/>
          <p:cNvSpPr>
            <a:spLocks noGrp="1"/>
          </p:cNvSpPr>
          <p:nvPr>
            <p:ph idx="1"/>
          </p:nvPr>
        </p:nvSpPr>
        <p:spPr>
          <a:xfrm>
            <a:off x="457200" y="1600200"/>
            <a:ext cx="8229600" cy="5257800"/>
          </a:xfrm>
        </p:spPr>
        <p:txBody>
          <a:bodyPr>
            <a:normAutofit fontScale="40000" lnSpcReduction="20000"/>
          </a:bodyPr>
          <a:lstStyle/>
          <a:p>
            <a:pPr lvl="0"/>
            <a:r>
              <a:rPr lang="el-GR" sz="4000" b="1" dirty="0"/>
              <a:t>PC (</a:t>
            </a:r>
            <a:r>
              <a:rPr lang="el-GR" sz="4000" b="1" dirty="0" err="1"/>
              <a:t>Program</a:t>
            </a:r>
            <a:r>
              <a:rPr lang="el-GR" sz="4000" b="1" dirty="0"/>
              <a:t> </a:t>
            </a:r>
            <a:r>
              <a:rPr lang="el-GR" sz="4000" b="1" dirty="0" err="1"/>
              <a:t>Counter</a:t>
            </a:r>
            <a:r>
              <a:rPr lang="el-GR" sz="4000" b="1" dirty="0"/>
              <a:t>)</a:t>
            </a:r>
            <a:r>
              <a:rPr lang="el-GR" sz="4000" dirty="0"/>
              <a:t/>
            </a:r>
            <a:br>
              <a:rPr lang="el-GR" sz="4000" dirty="0"/>
            </a:br>
            <a:r>
              <a:rPr lang="el-GR" sz="4000" dirty="0"/>
              <a:t>Ο PC είναι </a:t>
            </a:r>
            <a:r>
              <a:rPr lang="el-GR" sz="4000" dirty="0" err="1"/>
              <a:t>καταχωρητής</a:t>
            </a:r>
            <a:r>
              <a:rPr lang="el-GR" sz="4000" dirty="0"/>
              <a:t> 16-bit και περιέχει τη διεύθυνση της επόμενης εντολής που θα ανακτηθεί από τη μνήμη. Μετά από κάθε </a:t>
            </a:r>
            <a:r>
              <a:rPr lang="el-GR" sz="4000" dirty="0" err="1"/>
              <a:t>fetch</a:t>
            </a:r>
            <a:r>
              <a:rPr lang="el-GR" sz="4000" dirty="0"/>
              <a:t> εντολής, ο PC αυξάνεται κατά 1.</a:t>
            </a:r>
          </a:p>
          <a:p>
            <a:pPr lvl="0"/>
            <a:r>
              <a:rPr lang="el-GR" sz="4000" b="1" dirty="0"/>
              <a:t>AR (</a:t>
            </a:r>
            <a:r>
              <a:rPr lang="el-GR" sz="4000" b="1" dirty="0" err="1"/>
              <a:t>Address</a:t>
            </a:r>
            <a:r>
              <a:rPr lang="el-GR" sz="4000" b="1" dirty="0"/>
              <a:t> </a:t>
            </a:r>
            <a:r>
              <a:rPr lang="el-GR" sz="4000" b="1" dirty="0" err="1"/>
              <a:t>Register</a:t>
            </a:r>
            <a:r>
              <a:rPr lang="el-GR" sz="4000" b="1" dirty="0"/>
              <a:t>)</a:t>
            </a:r>
            <a:r>
              <a:rPr lang="el-GR" sz="4000" dirty="0"/>
              <a:t/>
            </a:r>
            <a:br>
              <a:rPr lang="el-GR" sz="4000" dirty="0"/>
            </a:br>
            <a:r>
              <a:rPr lang="el-GR" sz="4000" dirty="0"/>
              <a:t>Ο AR χρησιμοποιείται για να κρατά τη διεύθυνση μνήμης που θα προσπελαστεί. Στο στάδιο </a:t>
            </a:r>
            <a:r>
              <a:rPr lang="el-GR" sz="4000" dirty="0" err="1"/>
              <a:t>fetch</a:t>
            </a:r>
            <a:r>
              <a:rPr lang="el-GR" sz="4000" dirty="0"/>
              <a:t>, φορτώνεται με την τιμή του PC.</a:t>
            </a:r>
          </a:p>
          <a:p>
            <a:pPr lvl="0"/>
            <a:r>
              <a:rPr lang="el-GR" sz="4000" b="1" dirty="0"/>
              <a:t>IR (</a:t>
            </a:r>
            <a:r>
              <a:rPr lang="el-GR" sz="4000" b="1" dirty="0" err="1"/>
              <a:t>Instruction</a:t>
            </a:r>
            <a:r>
              <a:rPr lang="el-GR" sz="4000" b="1" dirty="0"/>
              <a:t> </a:t>
            </a:r>
            <a:r>
              <a:rPr lang="el-GR" sz="4000" b="1" dirty="0" err="1"/>
              <a:t>Register</a:t>
            </a:r>
            <a:r>
              <a:rPr lang="el-GR" sz="4000" b="1" dirty="0"/>
              <a:t>)</a:t>
            </a:r>
            <a:r>
              <a:rPr lang="el-GR" sz="4000" dirty="0"/>
              <a:t/>
            </a:r>
            <a:br>
              <a:rPr lang="el-GR" sz="4000" dirty="0"/>
            </a:br>
            <a:r>
              <a:rPr lang="el-GR" sz="4000" dirty="0"/>
              <a:t>Ο IR είναι </a:t>
            </a:r>
            <a:r>
              <a:rPr lang="el-GR" sz="4000" dirty="0" err="1"/>
              <a:t>καταχωρητής</a:t>
            </a:r>
            <a:r>
              <a:rPr lang="el-GR" sz="4000" dirty="0"/>
              <a:t> 8-bit και αποθηκεύει την εντολή που ανακτάται από τη μνήμη. Η αποκωδικοποίηση της εντολής γίνεται με βάση την τιμή του IR.</a:t>
            </a:r>
          </a:p>
          <a:p>
            <a:pPr lvl="0"/>
            <a:r>
              <a:rPr lang="el-GR" sz="4000" b="1" dirty="0"/>
              <a:t>DR (Data </a:t>
            </a:r>
            <a:r>
              <a:rPr lang="el-GR" sz="4000" b="1" dirty="0" err="1"/>
              <a:t>Register</a:t>
            </a:r>
            <a:r>
              <a:rPr lang="el-GR" sz="4000" b="1" dirty="0"/>
              <a:t>)</a:t>
            </a:r>
            <a:r>
              <a:rPr lang="el-GR" sz="4000" dirty="0"/>
              <a:t/>
            </a:r>
            <a:br>
              <a:rPr lang="el-GR" sz="4000" dirty="0"/>
            </a:br>
            <a:r>
              <a:rPr lang="el-GR" sz="4000" dirty="0"/>
              <a:t>Ο DR χρησιμοποιείται για την προσωρινή αποθήκευση δεδομένων που προέρχονται από τη μνήμη ή το data bus.</a:t>
            </a:r>
          </a:p>
          <a:p>
            <a:pPr lvl="0"/>
            <a:r>
              <a:rPr lang="el-GR" sz="4000" b="1" dirty="0"/>
              <a:t>AC (</a:t>
            </a:r>
            <a:r>
              <a:rPr lang="el-GR" sz="4000" b="1" dirty="0" err="1"/>
              <a:t>Accumulator</a:t>
            </a:r>
            <a:r>
              <a:rPr lang="el-GR" sz="4000" b="1" dirty="0"/>
              <a:t>)</a:t>
            </a:r>
            <a:r>
              <a:rPr lang="el-GR" sz="4000" dirty="0"/>
              <a:t/>
            </a:r>
            <a:br>
              <a:rPr lang="el-GR" sz="4000" dirty="0"/>
            </a:br>
            <a:r>
              <a:rPr lang="el-GR" sz="4000" dirty="0"/>
              <a:t>Ο AC είναι βασικός </a:t>
            </a:r>
            <a:r>
              <a:rPr lang="el-GR" sz="4000" dirty="0" err="1"/>
              <a:t>καταχωρητής</a:t>
            </a:r>
            <a:r>
              <a:rPr lang="el-GR" sz="4000" dirty="0"/>
              <a:t> υπολογισμών, ο οποίος συνεργάζεται με την ALU. Στην αρχική έκδοση χρησιμοποιείται περιορισμένα.</a:t>
            </a:r>
          </a:p>
          <a:p>
            <a:pPr lvl="0"/>
            <a:r>
              <a:rPr lang="el-GR" sz="4000" b="1" dirty="0"/>
              <a:t>TR (</a:t>
            </a:r>
            <a:r>
              <a:rPr lang="el-GR" sz="4000" b="1" dirty="0" err="1"/>
              <a:t>Temporary</a:t>
            </a:r>
            <a:r>
              <a:rPr lang="el-GR" sz="4000" b="1" dirty="0"/>
              <a:t> </a:t>
            </a:r>
            <a:r>
              <a:rPr lang="el-GR" sz="4000" b="1" dirty="0" err="1"/>
              <a:t>Register</a:t>
            </a:r>
            <a:r>
              <a:rPr lang="el-GR" sz="4000" b="1" dirty="0"/>
              <a:t>)</a:t>
            </a:r>
            <a:r>
              <a:rPr lang="el-GR" sz="4000" dirty="0"/>
              <a:t/>
            </a:r>
            <a:br>
              <a:rPr lang="el-GR" sz="4000" dirty="0"/>
            </a:br>
            <a:r>
              <a:rPr lang="el-GR" sz="4000" dirty="0"/>
              <a:t>Βοηθητικός </a:t>
            </a:r>
            <a:r>
              <a:rPr lang="el-GR" sz="4000" dirty="0" err="1"/>
              <a:t>καταχωρητής</a:t>
            </a:r>
            <a:r>
              <a:rPr lang="el-GR" sz="4000" dirty="0"/>
              <a:t> για ενδιάμεσες τιμές.</a:t>
            </a:r>
          </a:p>
          <a:p>
            <a:pPr lvl="0"/>
            <a:r>
              <a:rPr lang="el-GR" sz="4000" b="1" dirty="0"/>
              <a:t>RR (</a:t>
            </a:r>
            <a:r>
              <a:rPr lang="el-GR" sz="4000" b="1" dirty="0" err="1"/>
              <a:t>Register</a:t>
            </a:r>
            <a:r>
              <a:rPr lang="el-GR" sz="4000" b="1" dirty="0"/>
              <a:t> </a:t>
            </a:r>
            <a:r>
              <a:rPr lang="el-GR" sz="4000" b="1" dirty="0" err="1"/>
              <a:t>Register</a:t>
            </a:r>
            <a:r>
              <a:rPr lang="el-GR" sz="4000" b="1" dirty="0"/>
              <a:t>)</a:t>
            </a:r>
            <a:r>
              <a:rPr lang="el-GR" sz="4000" dirty="0"/>
              <a:t/>
            </a:r>
            <a:br>
              <a:rPr lang="el-GR" sz="4000" dirty="0"/>
            </a:br>
            <a:r>
              <a:rPr lang="el-GR" sz="4000" dirty="0" err="1"/>
              <a:t>Καταχωρητής</a:t>
            </a:r>
            <a:r>
              <a:rPr lang="el-GR" sz="4000" dirty="0"/>
              <a:t> γενικής χρήσης.</a:t>
            </a:r>
          </a:p>
          <a:p>
            <a:pPr lvl="0"/>
            <a:r>
              <a:rPr lang="el-GR" sz="4000" b="1" dirty="0"/>
              <a:t>ZR (</a:t>
            </a:r>
            <a:r>
              <a:rPr lang="el-GR" sz="4000" b="1" dirty="0" err="1"/>
              <a:t>Zero</a:t>
            </a:r>
            <a:r>
              <a:rPr lang="el-GR" sz="4000" b="1" dirty="0"/>
              <a:t> </a:t>
            </a:r>
            <a:r>
              <a:rPr lang="el-GR" sz="4000" b="1" dirty="0" err="1"/>
              <a:t>Register</a:t>
            </a:r>
            <a:r>
              <a:rPr lang="el-GR" sz="4000" b="1" dirty="0"/>
              <a:t> / </a:t>
            </a:r>
            <a:r>
              <a:rPr lang="el-GR" sz="4000" b="1" dirty="0" err="1"/>
              <a:t>Zero</a:t>
            </a:r>
            <a:r>
              <a:rPr lang="el-GR" sz="4000" b="1" dirty="0"/>
              <a:t> </a:t>
            </a:r>
            <a:r>
              <a:rPr lang="el-GR" sz="4000" b="1" dirty="0" err="1"/>
              <a:t>Flag</a:t>
            </a:r>
            <a:r>
              <a:rPr lang="el-GR" sz="4000" b="1" dirty="0"/>
              <a:t>)</a:t>
            </a:r>
            <a:r>
              <a:rPr lang="el-GR" sz="4000" dirty="0"/>
              <a:t/>
            </a:r>
            <a:br>
              <a:rPr lang="el-GR" sz="4000" dirty="0"/>
            </a:br>
            <a:r>
              <a:rPr lang="el-GR" sz="4000" dirty="0"/>
              <a:t>Αποθηκεύει πληροφορία κατάστασης (</a:t>
            </a:r>
            <a:r>
              <a:rPr lang="el-GR" sz="4000" dirty="0" err="1"/>
              <a:t>flag</a:t>
            </a:r>
            <a:r>
              <a:rPr lang="el-GR" sz="4000" dirty="0"/>
              <a:t>), η οποία υποδεικνύει αν το περιεχόμενο του AC είναι μηδενικό</a:t>
            </a:r>
            <a:r>
              <a:rPr lang="el-GR" sz="4000" dirty="0" smtClean="0"/>
              <a:t>.</a:t>
            </a:r>
          </a:p>
          <a:p>
            <a:r>
              <a:rPr lang="el-GR" sz="4000" dirty="0"/>
              <a:t>Οι παραπάνω </a:t>
            </a:r>
            <a:r>
              <a:rPr lang="el-GR" sz="4000" dirty="0" err="1"/>
              <a:t>καταχωρητές</a:t>
            </a:r>
            <a:r>
              <a:rPr lang="el-GR" sz="4000" dirty="0"/>
              <a:t> υλοποιούνται ως σήματα (*_q) και ενημερώνονται συγχρονισμένα με το ρολόι.</a:t>
            </a:r>
          </a:p>
          <a:p>
            <a:pPr lvl="0"/>
            <a:endParaRPr lang="el-G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a:t>Αλλαγές και επεκτάσεις στον </a:t>
            </a:r>
            <a:r>
              <a:rPr lang="el-GR" b="1" dirty="0" err="1" smtClean="0"/>
              <a:t>rs_cpu</a:t>
            </a:r>
            <a:endParaRPr lang="el-GR" dirty="0"/>
          </a:p>
        </p:txBody>
      </p:sp>
      <p:sp>
        <p:nvSpPr>
          <p:cNvPr id="3" name="2 - Θέση περιεχομένου"/>
          <p:cNvSpPr>
            <a:spLocks noGrp="1"/>
          </p:cNvSpPr>
          <p:nvPr>
            <p:ph idx="1"/>
          </p:nvPr>
        </p:nvSpPr>
        <p:spPr/>
        <p:txBody>
          <a:bodyPr/>
          <a:lstStyle/>
          <a:p>
            <a:r>
              <a:rPr lang="el-GR" dirty="0"/>
              <a:t>Για την κάλυψη των απαιτήσεων της άσκησης πραγματοποιήθηκαν ουσιαστικές αλλαγές στην αρχιτεκτονική και στη μονάδα ελέγχου του επεξεργαστή. Οι αλλαγές αυτές είχαν στόχο την υποστήριξη στοίβας και την υλοποίηση νέων εντολών.</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r>
              <a:rPr lang="el-GR" b="1" dirty="0"/>
              <a:t>Προσθήκη </a:t>
            </a:r>
            <a:r>
              <a:rPr lang="el-GR" b="1" dirty="0" err="1"/>
              <a:t>Stack</a:t>
            </a:r>
            <a:r>
              <a:rPr lang="el-GR" b="1" dirty="0"/>
              <a:t> </a:t>
            </a:r>
            <a:r>
              <a:rPr lang="el-GR" b="1" dirty="0" err="1"/>
              <a:t>Pointer</a:t>
            </a:r>
            <a:r>
              <a:rPr lang="el-GR" b="1" dirty="0"/>
              <a:t> (SP</a:t>
            </a:r>
            <a:r>
              <a:rPr lang="el-GR" b="1" dirty="0" smtClean="0"/>
              <a:t>)</a:t>
            </a:r>
            <a:endParaRPr lang="el-GR" dirty="0"/>
          </a:p>
        </p:txBody>
      </p:sp>
      <p:sp>
        <p:nvSpPr>
          <p:cNvPr id="3" name="2 - Θέση περιεχομένου"/>
          <p:cNvSpPr>
            <a:spLocks noGrp="1"/>
          </p:cNvSpPr>
          <p:nvPr>
            <p:ph idx="1"/>
          </p:nvPr>
        </p:nvSpPr>
        <p:spPr/>
        <p:txBody>
          <a:bodyPr>
            <a:normAutofit fontScale="92500" lnSpcReduction="20000"/>
          </a:bodyPr>
          <a:lstStyle/>
          <a:p>
            <a:pPr>
              <a:buNone/>
            </a:pPr>
            <a:r>
              <a:rPr lang="el-GR" dirty="0"/>
              <a:t>Η σημαντικότερη αλλαγή είναι η προσθήκη του </a:t>
            </a:r>
            <a:r>
              <a:rPr lang="el-GR" dirty="0" err="1"/>
              <a:t>καταχωρητή</a:t>
            </a:r>
            <a:r>
              <a:rPr lang="el-GR" dirty="0"/>
              <a:t> </a:t>
            </a:r>
            <a:r>
              <a:rPr lang="el-GR" b="1" dirty="0"/>
              <a:t>SP (</a:t>
            </a:r>
            <a:r>
              <a:rPr lang="el-GR" b="1" dirty="0" err="1"/>
              <a:t>Stack</a:t>
            </a:r>
            <a:r>
              <a:rPr lang="el-GR" b="1" dirty="0"/>
              <a:t> </a:t>
            </a:r>
            <a:r>
              <a:rPr lang="el-GR" b="1" dirty="0" err="1"/>
              <a:t>Pointer</a:t>
            </a:r>
            <a:r>
              <a:rPr lang="el-GR" b="1" dirty="0"/>
              <a:t>)</a:t>
            </a:r>
            <a:r>
              <a:rPr lang="el-GR" dirty="0"/>
              <a:t>, ο οποίος:</a:t>
            </a:r>
          </a:p>
          <a:p>
            <a:pPr lvl="0"/>
            <a:r>
              <a:rPr lang="el-GR" dirty="0"/>
              <a:t>είναι 16-bit,</a:t>
            </a:r>
          </a:p>
          <a:p>
            <a:pPr lvl="0"/>
            <a:r>
              <a:rPr lang="el-GR" dirty="0"/>
              <a:t>αποθηκεύει τη διεύθυνση της κορυφής της στοίβας,</a:t>
            </a:r>
          </a:p>
          <a:p>
            <a:pPr lvl="0"/>
            <a:r>
              <a:rPr lang="el-GR" dirty="0"/>
              <a:t>χρησιμοποιείται κατά την εκτέλεση της εντολής CALL.</a:t>
            </a:r>
          </a:p>
          <a:p>
            <a:pPr>
              <a:buNone/>
            </a:pPr>
            <a:r>
              <a:rPr lang="el-GR" dirty="0"/>
              <a:t>Ο</a:t>
            </a:r>
            <a:r>
              <a:rPr lang="en-US" dirty="0"/>
              <a:t> SP </a:t>
            </a:r>
            <a:r>
              <a:rPr lang="el-GR" dirty="0"/>
              <a:t>δηλώθηκε ως</a:t>
            </a:r>
            <a:r>
              <a:rPr lang="en-US" dirty="0"/>
              <a:t>:</a:t>
            </a:r>
            <a:endParaRPr lang="el-GR" dirty="0"/>
          </a:p>
          <a:p>
            <a:r>
              <a:rPr lang="en-US" dirty="0"/>
              <a:t>signal </a:t>
            </a:r>
            <a:r>
              <a:rPr lang="en-US" dirty="0" err="1"/>
              <a:t>SP_q</a:t>
            </a:r>
            <a:r>
              <a:rPr lang="en-US" dirty="0"/>
              <a:t> : </a:t>
            </a:r>
            <a:r>
              <a:rPr lang="en-US" dirty="0" err="1"/>
              <a:t>std_logic_vector</a:t>
            </a:r>
            <a:r>
              <a:rPr lang="en-US" dirty="0"/>
              <a:t>(15 </a:t>
            </a:r>
            <a:r>
              <a:rPr lang="en-US" dirty="0" err="1"/>
              <a:t>downto</a:t>
            </a:r>
            <a:r>
              <a:rPr lang="en-US" dirty="0"/>
              <a:t> 0);</a:t>
            </a:r>
            <a:endParaRPr lang="el-GR" dirty="0"/>
          </a:p>
          <a:p>
            <a:pPr>
              <a:buNone/>
            </a:pPr>
            <a:r>
              <a:rPr lang="el-GR" dirty="0"/>
              <a:t>και εξάγεται ως σήμα παρακολούθησης (</a:t>
            </a:r>
            <a:r>
              <a:rPr lang="el-GR" dirty="0" err="1"/>
              <a:t>SPdata</a:t>
            </a:r>
            <a:r>
              <a:rPr lang="el-GR" dirty="0"/>
              <a:t>).</a:t>
            </a:r>
          </a:p>
          <a:p>
            <a:endParaRPr lang="el-G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smtClean="0"/>
              <a:t>Προσθήκη</a:t>
            </a:r>
            <a:r>
              <a:rPr lang="en-US" b="1" dirty="0" smtClean="0"/>
              <a:t> </a:t>
            </a:r>
            <a:r>
              <a:rPr lang="en-US" b="1" dirty="0" smtClean="0"/>
              <a:t>LDSP</a:t>
            </a:r>
            <a:r>
              <a:rPr lang="el-GR" b="1" dirty="0" smtClean="0"/>
              <a:t> </a:t>
            </a:r>
            <a:r>
              <a:rPr lang="el-GR" b="1" dirty="0"/>
              <a:t>(</a:t>
            </a:r>
            <a:r>
              <a:rPr lang="el-GR" b="1" dirty="0" err="1"/>
              <a:t>Load</a:t>
            </a:r>
            <a:r>
              <a:rPr lang="el-GR" b="1" dirty="0"/>
              <a:t> </a:t>
            </a:r>
            <a:r>
              <a:rPr lang="el-GR" b="1" dirty="0" err="1"/>
              <a:t>Stack</a:t>
            </a:r>
            <a:r>
              <a:rPr lang="el-GR" b="1" dirty="0"/>
              <a:t> </a:t>
            </a:r>
            <a:r>
              <a:rPr lang="el-GR" b="1" dirty="0" err="1"/>
              <a:t>Pointer</a:t>
            </a:r>
            <a:r>
              <a:rPr lang="el-GR" b="1" dirty="0"/>
              <a:t>)</a:t>
            </a:r>
            <a:r>
              <a:rPr lang="el-GR" dirty="0"/>
              <a:t/>
            </a:r>
            <a:br>
              <a:rPr lang="el-GR" dirty="0"/>
            </a:br>
            <a:r>
              <a:rPr lang="en-US" b="1" dirty="0" smtClean="0"/>
              <a:t> </a:t>
            </a:r>
            <a:r>
              <a:rPr lang="el-GR" b="1" dirty="0" smtClean="0"/>
              <a:t>και </a:t>
            </a:r>
            <a:r>
              <a:rPr lang="en-US" b="1" dirty="0" smtClean="0"/>
              <a:t>CALL</a:t>
            </a:r>
            <a:r>
              <a:rPr lang="el-GR" b="1" dirty="0" smtClean="0"/>
              <a:t> εντολών</a:t>
            </a:r>
            <a:endParaRPr lang="el-GR" b="1" dirty="0"/>
          </a:p>
        </p:txBody>
      </p:sp>
      <p:sp>
        <p:nvSpPr>
          <p:cNvPr id="3" name="2 - Θέση περιεχομένου"/>
          <p:cNvSpPr>
            <a:spLocks noGrp="1"/>
          </p:cNvSpPr>
          <p:nvPr>
            <p:ph idx="1"/>
          </p:nvPr>
        </p:nvSpPr>
        <p:spPr>
          <a:xfrm>
            <a:off x="457200" y="1600200"/>
            <a:ext cx="8229600" cy="5900766"/>
          </a:xfrm>
        </p:spPr>
        <p:txBody>
          <a:bodyPr>
            <a:normAutofit fontScale="85000" lnSpcReduction="20000"/>
          </a:bodyPr>
          <a:lstStyle/>
          <a:p>
            <a:r>
              <a:rPr lang="en-US" dirty="0"/>
              <a:t>LDSP: </a:t>
            </a:r>
            <a:r>
              <a:rPr lang="en-US" dirty="0" err="1"/>
              <a:t>opcode</a:t>
            </a:r>
            <a:r>
              <a:rPr lang="en-US" dirty="0"/>
              <a:t> = 80H, Instruction Code </a:t>
            </a:r>
            <a:r>
              <a:rPr lang="en-US" dirty="0" smtClean="0"/>
              <a:t>=</a:t>
            </a:r>
            <a:r>
              <a:rPr lang="el-GR" dirty="0" smtClean="0"/>
              <a:t> </a:t>
            </a:r>
            <a:r>
              <a:rPr lang="en-US" dirty="0" smtClean="0"/>
              <a:t>10000000</a:t>
            </a:r>
            <a:r>
              <a:rPr lang="en-US" dirty="0"/>
              <a:t>, operation SP ← IR</a:t>
            </a:r>
          </a:p>
          <a:p>
            <a:pPr>
              <a:buNone/>
            </a:pPr>
            <a:r>
              <a:rPr lang="el-GR" dirty="0"/>
              <a:t>	</a:t>
            </a:r>
            <a:r>
              <a:rPr lang="el-GR" dirty="0" smtClean="0"/>
              <a:t>Όπου </a:t>
            </a:r>
            <a:r>
              <a:rPr lang="el-GR" dirty="0"/>
              <a:t>η </a:t>
            </a:r>
            <a:r>
              <a:rPr lang="el-GR" dirty="0" smtClean="0"/>
              <a:t>λειτουργία </a:t>
            </a:r>
            <a:r>
              <a:rPr lang="el-GR" dirty="0"/>
              <a:t>της </a:t>
            </a:r>
            <a:r>
              <a:rPr lang="el-GR" dirty="0" smtClean="0"/>
              <a:t>είναι </a:t>
            </a:r>
            <a:r>
              <a:rPr lang="el-GR" dirty="0"/>
              <a:t>να </a:t>
            </a:r>
            <a:r>
              <a:rPr lang="el-GR" dirty="0" smtClean="0"/>
              <a:t>φορτώνει </a:t>
            </a:r>
            <a:r>
              <a:rPr lang="el-GR" dirty="0"/>
              <a:t>τον </a:t>
            </a:r>
            <a:r>
              <a:rPr lang="el-GR" dirty="0" err="1" smtClean="0"/>
              <a:t>καταχωρητή</a:t>
            </a:r>
            <a:r>
              <a:rPr lang="el-GR" dirty="0" smtClean="0"/>
              <a:t> </a:t>
            </a:r>
            <a:r>
              <a:rPr lang="el-GR" dirty="0"/>
              <a:t>SP με την </a:t>
            </a:r>
            <a:r>
              <a:rPr lang="el-GR" dirty="0" smtClean="0"/>
              <a:t>τιμή που βρίσκεται </a:t>
            </a:r>
            <a:r>
              <a:rPr lang="el-GR" dirty="0"/>
              <a:t>στον </a:t>
            </a:r>
            <a:r>
              <a:rPr lang="el-GR" dirty="0" err="1" smtClean="0"/>
              <a:t>καταχωρητή</a:t>
            </a:r>
            <a:r>
              <a:rPr lang="el-GR" dirty="0" smtClean="0"/>
              <a:t> </a:t>
            </a:r>
            <a:r>
              <a:rPr lang="el-GR" dirty="0"/>
              <a:t>IR(ή και στο data bus, </a:t>
            </a:r>
            <a:r>
              <a:rPr lang="el-GR" dirty="0" smtClean="0"/>
              <a:t>ανάλογα </a:t>
            </a:r>
            <a:r>
              <a:rPr lang="el-GR" dirty="0"/>
              <a:t>με την </a:t>
            </a:r>
            <a:r>
              <a:rPr lang="el-GR" dirty="0" smtClean="0"/>
              <a:t>υλοποίηση).</a:t>
            </a:r>
          </a:p>
          <a:p>
            <a:r>
              <a:rPr lang="en-US" dirty="0"/>
              <a:t>CALL: </a:t>
            </a:r>
            <a:r>
              <a:rPr lang="en-US" dirty="0" err="1"/>
              <a:t>opcode</a:t>
            </a:r>
            <a:r>
              <a:rPr lang="en-US" dirty="0"/>
              <a:t> 82H, Instruction Code = 10000010, operation M[SP]←PC, </a:t>
            </a:r>
            <a:r>
              <a:rPr lang="el-GR" dirty="0" smtClean="0"/>
              <a:t>και </a:t>
            </a:r>
            <a:r>
              <a:rPr lang="en-US" dirty="0" err="1" smtClean="0"/>
              <a:t>μετ</a:t>
            </a:r>
            <a:r>
              <a:rPr lang="el-GR" dirty="0" smtClean="0"/>
              <a:t>ά </a:t>
            </a:r>
            <a:r>
              <a:rPr lang="en-US" dirty="0" smtClean="0"/>
              <a:t>PC</a:t>
            </a:r>
            <a:r>
              <a:rPr lang="en-US" dirty="0"/>
              <a:t>← IR</a:t>
            </a:r>
          </a:p>
          <a:p>
            <a:pPr lvl="0">
              <a:buNone/>
            </a:pPr>
            <a:r>
              <a:rPr lang="el-GR" dirty="0" smtClean="0"/>
              <a:t>	Η εντολή CALL χρησιμοποιείται για κλήση </a:t>
            </a:r>
            <a:r>
              <a:rPr lang="el-GR" dirty="0" err="1" smtClean="0"/>
              <a:t>υπορουτίνας</a:t>
            </a:r>
            <a:r>
              <a:rPr lang="el-GR" dirty="0" smtClean="0"/>
              <a:t>  με αποθήκευση της διεύθυνσης επιστροφής στη στοίβα. </a:t>
            </a:r>
          </a:p>
          <a:p>
            <a:pPr>
              <a:buNone/>
            </a:pPr>
            <a:r>
              <a:rPr lang="el-GR" dirty="0"/>
              <a:t>Η αναγνώριση των εντολών γίνεται στο στάδιο </a:t>
            </a:r>
            <a:r>
              <a:rPr lang="el-GR" dirty="0" err="1"/>
              <a:t>decode</a:t>
            </a:r>
            <a:r>
              <a:rPr lang="el-GR" dirty="0"/>
              <a:t> μέσω του περιεχομένου του IR.</a:t>
            </a:r>
          </a:p>
          <a:p>
            <a:pPr lvl="0">
              <a:buNone/>
            </a:pPr>
            <a:endParaRPr lang="el-GR" dirty="0" smtClean="0"/>
          </a:p>
          <a:p>
            <a:pPr>
              <a:buNone/>
            </a:pPr>
            <a:r>
              <a:rPr lang="el-GR" dirty="0" smtClean="0"/>
              <a:t> </a:t>
            </a:r>
            <a:endParaRPr lang="el-G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r>
              <a:rPr lang="el-GR" b="1" dirty="0"/>
              <a:t>Κύκλος </a:t>
            </a:r>
            <a:r>
              <a:rPr lang="el-GR" b="1" dirty="0" err="1"/>
              <a:t>Fetch</a:t>
            </a:r>
            <a:r>
              <a:rPr lang="el-GR" b="1" dirty="0"/>
              <a:t> – </a:t>
            </a:r>
            <a:r>
              <a:rPr lang="el-GR" b="1" dirty="0" err="1"/>
              <a:t>Decode</a:t>
            </a:r>
            <a:r>
              <a:rPr lang="el-GR" b="1" dirty="0"/>
              <a:t> – </a:t>
            </a:r>
            <a:r>
              <a:rPr lang="el-GR" b="1" dirty="0" err="1"/>
              <a:t>Execute</a:t>
            </a:r>
            <a:endParaRPr lang="el-GR" dirty="0"/>
          </a:p>
        </p:txBody>
      </p:sp>
      <p:sp>
        <p:nvSpPr>
          <p:cNvPr id="3" name="2 - Θέση περιεχομένου"/>
          <p:cNvSpPr>
            <a:spLocks noGrp="1"/>
          </p:cNvSpPr>
          <p:nvPr>
            <p:ph idx="1"/>
          </p:nvPr>
        </p:nvSpPr>
        <p:spPr/>
        <p:txBody>
          <a:bodyPr>
            <a:normAutofit fontScale="92500" lnSpcReduction="10000"/>
          </a:bodyPr>
          <a:lstStyle/>
          <a:p>
            <a:r>
              <a:rPr lang="el-GR" dirty="0"/>
              <a:t>Η λειτουργία του επεξεργαστή </a:t>
            </a:r>
            <a:r>
              <a:rPr lang="el-GR" dirty="0" err="1"/>
              <a:t>rs_cpu</a:t>
            </a:r>
            <a:r>
              <a:rPr lang="el-GR" dirty="0"/>
              <a:t> βασίζεται στον κλασικό κύκλο </a:t>
            </a:r>
            <a:r>
              <a:rPr lang="el-GR" b="1" dirty="0" err="1"/>
              <a:t>Fetch</a:t>
            </a:r>
            <a:r>
              <a:rPr lang="el-GR" b="1" dirty="0"/>
              <a:t> – </a:t>
            </a:r>
            <a:r>
              <a:rPr lang="el-GR" b="1" dirty="0" err="1"/>
              <a:t>Decode</a:t>
            </a:r>
            <a:r>
              <a:rPr lang="el-GR" b="1" dirty="0"/>
              <a:t> – </a:t>
            </a:r>
            <a:r>
              <a:rPr lang="el-GR" b="1" dirty="0" err="1"/>
              <a:t>Execute</a:t>
            </a:r>
            <a:r>
              <a:rPr lang="el-GR" dirty="0"/>
              <a:t>, ο οποίος επαναλαμβάνεται συνεχώς για κάθε εντολή του προγράμματος</a:t>
            </a:r>
            <a:r>
              <a:rPr lang="el-GR" dirty="0" smtClean="0"/>
              <a:t>.</a:t>
            </a:r>
            <a:endParaRPr lang="en-US" dirty="0" smtClean="0"/>
          </a:p>
          <a:p>
            <a:r>
              <a:rPr lang="el-GR" dirty="0"/>
              <a:t>Η FSM επεκτάθηκε με νέες καταστάσεις:</a:t>
            </a:r>
          </a:p>
          <a:p>
            <a:pPr lvl="0"/>
            <a:r>
              <a:rPr lang="el-GR" dirty="0"/>
              <a:t>S_DECODE</a:t>
            </a:r>
          </a:p>
          <a:p>
            <a:pPr lvl="0"/>
            <a:r>
              <a:rPr lang="el-GR" dirty="0"/>
              <a:t>S_LDSP</a:t>
            </a:r>
          </a:p>
          <a:p>
            <a:pPr lvl="0"/>
            <a:r>
              <a:rPr lang="el-GR" dirty="0"/>
              <a:t>S_CALL1</a:t>
            </a:r>
          </a:p>
          <a:p>
            <a:pPr lvl="0"/>
            <a:r>
              <a:rPr lang="el-GR" dirty="0" smtClean="0"/>
              <a:t>S_CALL2</a:t>
            </a:r>
            <a:endParaRPr lang="en-US" dirty="0" smtClean="0"/>
          </a:p>
          <a:p>
            <a:endParaRPr lang="el-G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r>
              <a:rPr lang="el-GR" b="1" dirty="0"/>
              <a:t>Στάδιο </a:t>
            </a:r>
            <a:r>
              <a:rPr lang="el-GR" b="1" dirty="0" err="1"/>
              <a:t>Fetch</a:t>
            </a:r>
            <a:r>
              <a:rPr lang="el-GR" b="1" dirty="0"/>
              <a:t> (Ανάκτηση Εντολής</a:t>
            </a:r>
            <a:r>
              <a:rPr lang="el-GR" b="1" dirty="0" smtClean="0"/>
              <a:t>)</a:t>
            </a:r>
            <a:endParaRPr lang="el-GR" dirty="0"/>
          </a:p>
        </p:txBody>
      </p:sp>
      <p:sp>
        <p:nvSpPr>
          <p:cNvPr id="3" name="2 - Θέση περιεχομένου"/>
          <p:cNvSpPr>
            <a:spLocks noGrp="1"/>
          </p:cNvSpPr>
          <p:nvPr>
            <p:ph idx="1"/>
          </p:nvPr>
        </p:nvSpPr>
        <p:spPr/>
        <p:txBody>
          <a:bodyPr>
            <a:normAutofit fontScale="77500" lnSpcReduction="20000"/>
          </a:bodyPr>
          <a:lstStyle/>
          <a:p>
            <a:pPr>
              <a:buNone/>
            </a:pPr>
            <a:r>
              <a:rPr lang="el-GR" dirty="0" smtClean="0"/>
              <a:t>Το </a:t>
            </a:r>
            <a:r>
              <a:rPr lang="el-GR" dirty="0"/>
              <a:t>στάδιο </a:t>
            </a:r>
            <a:r>
              <a:rPr lang="el-GR" dirty="0" err="1"/>
              <a:t>fetch</a:t>
            </a:r>
            <a:r>
              <a:rPr lang="el-GR" dirty="0"/>
              <a:t> εκτελείται σε δύο διαδοχικές καταστάσεις:</a:t>
            </a:r>
          </a:p>
          <a:p>
            <a:pPr>
              <a:buNone/>
            </a:pPr>
            <a:r>
              <a:rPr lang="en-US" b="1" dirty="0"/>
              <a:t>	</a:t>
            </a:r>
            <a:r>
              <a:rPr lang="el-GR" b="1" dirty="0" smtClean="0"/>
              <a:t>S_FETCH1</a:t>
            </a:r>
            <a:r>
              <a:rPr lang="en-US" b="1" dirty="0" smtClean="0"/>
              <a:t>:</a:t>
            </a:r>
            <a:endParaRPr lang="el-GR" dirty="0"/>
          </a:p>
          <a:p>
            <a:pPr lvl="0"/>
            <a:r>
              <a:rPr lang="el-GR" dirty="0"/>
              <a:t>Το περιεχόμενο του PC μεταφέρεται στον AR.</a:t>
            </a:r>
          </a:p>
          <a:p>
            <a:pPr lvl="0"/>
            <a:r>
              <a:rPr lang="el-GR" dirty="0"/>
              <a:t>Ο AR αποκτά τη διεύθυνση της εντολής που θα ανακτηθεί.</a:t>
            </a:r>
          </a:p>
          <a:p>
            <a:pPr>
              <a:buNone/>
            </a:pPr>
            <a:endParaRPr lang="en-US" b="1" dirty="0"/>
          </a:p>
          <a:p>
            <a:pPr>
              <a:buNone/>
            </a:pPr>
            <a:r>
              <a:rPr lang="en-US" b="1" dirty="0"/>
              <a:t>	</a:t>
            </a:r>
            <a:r>
              <a:rPr lang="el-GR" b="1" dirty="0" smtClean="0"/>
              <a:t>S_FETCH2</a:t>
            </a:r>
            <a:r>
              <a:rPr lang="en-US" b="1" dirty="0" smtClean="0"/>
              <a:t>:</a:t>
            </a:r>
            <a:endParaRPr lang="el-GR" dirty="0"/>
          </a:p>
          <a:p>
            <a:pPr lvl="0"/>
            <a:r>
              <a:rPr lang="el-GR" dirty="0"/>
              <a:t>Η μνήμη προσπελαύνεται στη διεύθυνση που δείχνει ο AR.</a:t>
            </a:r>
          </a:p>
          <a:p>
            <a:pPr lvl="0"/>
            <a:r>
              <a:rPr lang="el-GR" dirty="0"/>
              <a:t>Το περιεχόμενο της μνήμης φορτώνεται στον IR.</a:t>
            </a:r>
          </a:p>
          <a:p>
            <a:pPr lvl="0"/>
            <a:r>
              <a:rPr lang="el-GR" dirty="0"/>
              <a:t>Ο PC αυξάνεται κατά 1 ώστε να δείχνει την επόμενη εντολή.</a:t>
            </a:r>
          </a:p>
          <a:p>
            <a:r>
              <a:rPr lang="el-GR" dirty="0"/>
              <a:t>Το στάδιο </a:t>
            </a:r>
            <a:r>
              <a:rPr lang="el-GR" dirty="0" err="1"/>
              <a:t>fetch</a:t>
            </a:r>
            <a:r>
              <a:rPr lang="el-GR" dirty="0"/>
              <a:t> είναι κοινό για όλες τις εντολές και αποτελεί τη βάση λειτουργίας του επεξεργαστή.</a:t>
            </a:r>
          </a:p>
          <a:p>
            <a:endParaRPr lang="el-G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a:t>Στάδιο </a:t>
            </a:r>
            <a:r>
              <a:rPr lang="el-GR" b="1" dirty="0" err="1"/>
              <a:t>Decode</a:t>
            </a:r>
            <a:r>
              <a:rPr lang="el-GR" b="1" dirty="0"/>
              <a:t> (Αποκωδικοποίηση)</a:t>
            </a:r>
            <a:endParaRPr lang="el-GR" dirty="0"/>
          </a:p>
        </p:txBody>
      </p:sp>
      <p:sp>
        <p:nvSpPr>
          <p:cNvPr id="3" name="2 - Θέση περιεχομένου"/>
          <p:cNvSpPr>
            <a:spLocks noGrp="1"/>
          </p:cNvSpPr>
          <p:nvPr>
            <p:ph idx="1"/>
          </p:nvPr>
        </p:nvSpPr>
        <p:spPr>
          <a:xfrm>
            <a:off x="457200" y="1600200"/>
            <a:ext cx="8229600" cy="4972072"/>
          </a:xfrm>
        </p:spPr>
        <p:txBody>
          <a:bodyPr>
            <a:normAutofit fontScale="85000" lnSpcReduction="20000"/>
          </a:bodyPr>
          <a:lstStyle/>
          <a:p>
            <a:r>
              <a:rPr lang="el-GR" dirty="0" smtClean="0"/>
              <a:t>Στην τελική έκδοση του επεξεργαστή εισήχθη ρητά η κατάσταση </a:t>
            </a:r>
            <a:r>
              <a:rPr lang="el-GR" b="1" dirty="0" smtClean="0"/>
              <a:t>S_DECODE</a:t>
            </a:r>
            <a:r>
              <a:rPr lang="el-GR" dirty="0" smtClean="0"/>
              <a:t>. Σε αυτήν:</a:t>
            </a:r>
            <a:endParaRPr lang="en-US" dirty="0" smtClean="0"/>
          </a:p>
          <a:p>
            <a:pPr lvl="0"/>
            <a:r>
              <a:rPr lang="el-GR" dirty="0" smtClean="0"/>
              <a:t>Εξετάζεται το περιεχόμενο του IR.</a:t>
            </a:r>
          </a:p>
          <a:p>
            <a:pPr lvl="0"/>
            <a:r>
              <a:rPr lang="el-GR" dirty="0" smtClean="0"/>
              <a:t>Γίνεται σύγκριση με γνωστούς κωδικούς εντολών (</a:t>
            </a:r>
            <a:r>
              <a:rPr lang="el-GR" dirty="0" err="1" smtClean="0"/>
              <a:t>opcode</a:t>
            </a:r>
            <a:r>
              <a:rPr lang="el-GR" dirty="0" smtClean="0"/>
              <a:t>).</a:t>
            </a:r>
          </a:p>
          <a:p>
            <a:r>
              <a:rPr lang="el-GR" dirty="0" smtClean="0"/>
              <a:t>Επιλέγεται η κατάλληλη ακολουθία καταστάσεων εκτέλεσης</a:t>
            </a:r>
            <a:r>
              <a:rPr lang="en-US" dirty="0" smtClean="0"/>
              <a:t>.</a:t>
            </a:r>
          </a:p>
          <a:p>
            <a:pPr>
              <a:buNone/>
            </a:pPr>
            <a:r>
              <a:rPr lang="el-GR" dirty="0" smtClean="0"/>
              <a:t>Για παράδειγμα:</a:t>
            </a:r>
            <a:endParaRPr lang="en-US" dirty="0" smtClean="0"/>
          </a:p>
          <a:p>
            <a:pPr lvl="0"/>
            <a:r>
              <a:rPr lang="el-GR" dirty="0" err="1" smtClean="0"/>
              <a:t>Opcode</a:t>
            </a:r>
            <a:r>
              <a:rPr lang="el-GR" dirty="0" smtClean="0"/>
              <a:t> x"80" οδηγεί στην εκτέλεση της εντολής </a:t>
            </a:r>
            <a:r>
              <a:rPr lang="el-GR" b="1" dirty="0" smtClean="0"/>
              <a:t>LDSP</a:t>
            </a:r>
            <a:r>
              <a:rPr lang="el-GR" dirty="0" smtClean="0"/>
              <a:t>.</a:t>
            </a:r>
          </a:p>
          <a:p>
            <a:pPr lvl="0"/>
            <a:r>
              <a:rPr lang="el-GR" dirty="0" err="1" smtClean="0"/>
              <a:t>Opcode</a:t>
            </a:r>
            <a:r>
              <a:rPr lang="el-GR" dirty="0" smtClean="0"/>
              <a:t> x"82" οδηγεί στην εκτέλεση της εντολής </a:t>
            </a:r>
            <a:r>
              <a:rPr lang="el-GR" b="1" dirty="0" smtClean="0"/>
              <a:t>CALL</a:t>
            </a:r>
            <a:r>
              <a:rPr lang="el-GR" dirty="0" smtClean="0"/>
              <a:t>.</a:t>
            </a:r>
          </a:p>
          <a:p>
            <a:pPr>
              <a:buNone/>
            </a:pPr>
            <a:r>
              <a:rPr lang="el-GR" dirty="0" smtClean="0"/>
              <a:t>Αν η εντολή δεν αναγνωρίζεται, ο επεξεργαστής επιστρέφει στον κύκλο </a:t>
            </a:r>
            <a:r>
              <a:rPr lang="el-GR" dirty="0" err="1" smtClean="0"/>
              <a:t>fetch</a:t>
            </a:r>
            <a:r>
              <a:rPr lang="el-GR" dirty="0" smtClean="0"/>
              <a:t>.</a:t>
            </a:r>
            <a:endParaRPr lang="el-G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r>
              <a:rPr lang="el-GR" b="1" dirty="0"/>
              <a:t>Στάδιο </a:t>
            </a:r>
            <a:r>
              <a:rPr lang="el-GR" b="1" dirty="0" err="1"/>
              <a:t>Execute</a:t>
            </a:r>
            <a:r>
              <a:rPr lang="el-GR" b="1" dirty="0"/>
              <a:t> (Εκτέλεση</a:t>
            </a:r>
            <a:r>
              <a:rPr lang="el-GR" b="1" dirty="0" smtClean="0"/>
              <a:t>)</a:t>
            </a:r>
            <a:endParaRPr lang="el-GR" dirty="0"/>
          </a:p>
        </p:txBody>
      </p:sp>
      <p:sp>
        <p:nvSpPr>
          <p:cNvPr id="3" name="2 - Θέση περιεχομένου"/>
          <p:cNvSpPr>
            <a:spLocks noGrp="1"/>
          </p:cNvSpPr>
          <p:nvPr>
            <p:ph idx="1"/>
          </p:nvPr>
        </p:nvSpPr>
        <p:spPr/>
        <p:txBody>
          <a:bodyPr>
            <a:normAutofit fontScale="85000" lnSpcReduction="20000"/>
          </a:bodyPr>
          <a:lstStyle/>
          <a:p>
            <a:pPr>
              <a:buNone/>
            </a:pPr>
            <a:r>
              <a:rPr lang="el-GR" dirty="0"/>
              <a:t>Το στάδιο </a:t>
            </a:r>
            <a:r>
              <a:rPr lang="el-GR" dirty="0" err="1"/>
              <a:t>execute</a:t>
            </a:r>
            <a:r>
              <a:rPr lang="el-GR" dirty="0"/>
              <a:t> διαφέρει ανάλογα με την εντολή.</a:t>
            </a:r>
          </a:p>
          <a:p>
            <a:pPr lvl="0"/>
            <a:r>
              <a:rPr lang="el-GR" b="1" dirty="0"/>
              <a:t>Απλές εντολές</a:t>
            </a:r>
            <a:r>
              <a:rPr lang="el-GR" dirty="0"/>
              <a:t> (π.χ. αρχική υλοποίηση) ολοκληρώνονται σε έναν κύκλο.</a:t>
            </a:r>
          </a:p>
          <a:p>
            <a:pPr lvl="0"/>
            <a:r>
              <a:rPr lang="el-GR" b="1" dirty="0"/>
              <a:t>Σύνθετες εντολές</a:t>
            </a:r>
            <a:r>
              <a:rPr lang="el-GR" dirty="0"/>
              <a:t>, όπως οι LDSP και CALL, απαιτούν πολλαπλές καταστάσεις.</a:t>
            </a:r>
          </a:p>
          <a:p>
            <a:pPr>
              <a:buNone/>
            </a:pPr>
            <a:r>
              <a:rPr lang="el-GR" dirty="0"/>
              <a:t>Για παράδειγμα:</a:t>
            </a:r>
          </a:p>
          <a:p>
            <a:pPr lvl="0"/>
            <a:r>
              <a:rPr lang="el-GR" dirty="0"/>
              <a:t>Η LDSP εκτελείται σε μία κατάσταση, όπου αρχικοποιείται ο </a:t>
            </a:r>
            <a:r>
              <a:rPr lang="el-GR" dirty="0" err="1"/>
              <a:t>Stack</a:t>
            </a:r>
            <a:r>
              <a:rPr lang="el-GR" dirty="0"/>
              <a:t> </a:t>
            </a:r>
            <a:r>
              <a:rPr lang="el-GR" dirty="0" err="1"/>
              <a:t>Pointer</a:t>
            </a:r>
            <a:r>
              <a:rPr lang="el-GR" dirty="0"/>
              <a:t>.</a:t>
            </a:r>
          </a:p>
          <a:p>
            <a:pPr lvl="0"/>
            <a:r>
              <a:rPr lang="el-GR" dirty="0"/>
              <a:t>Η CALL απαιτεί δύο καταστάσεις: μία για την αποθήκευση της διεύθυνσης επιστροφής στη μνήμη και μία για την αλλαγή του PC.</a:t>
            </a:r>
          </a:p>
          <a:p>
            <a:endParaRPr lang="el-G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smtClean="0"/>
              <a:t>Αναγνώριση και εκτέλεση </a:t>
            </a:r>
            <a:r>
              <a:rPr lang="el-GR" b="1" dirty="0"/>
              <a:t>της </a:t>
            </a:r>
            <a:r>
              <a:rPr lang="el-GR" b="1" dirty="0" smtClean="0"/>
              <a:t>LDSP </a:t>
            </a:r>
            <a:endParaRPr lang="el-GR" dirty="0"/>
          </a:p>
        </p:txBody>
      </p:sp>
      <p:sp>
        <p:nvSpPr>
          <p:cNvPr id="3" name="2 - Θέση περιεχομένου"/>
          <p:cNvSpPr>
            <a:spLocks noGrp="1"/>
          </p:cNvSpPr>
          <p:nvPr>
            <p:ph idx="1"/>
          </p:nvPr>
        </p:nvSpPr>
        <p:spPr>
          <a:xfrm>
            <a:off x="457200" y="1600200"/>
            <a:ext cx="8229600" cy="5257800"/>
          </a:xfrm>
        </p:spPr>
        <p:txBody>
          <a:bodyPr>
            <a:normAutofit fontScale="70000" lnSpcReduction="20000"/>
          </a:bodyPr>
          <a:lstStyle/>
          <a:p>
            <a:r>
              <a:rPr lang="el-GR" dirty="0"/>
              <a:t>Η εντολή αναγνωρίζεται στο στάδιο </a:t>
            </a:r>
            <a:r>
              <a:rPr lang="el-GR" dirty="0" err="1"/>
              <a:t>decode</a:t>
            </a:r>
            <a:r>
              <a:rPr lang="el-GR" dirty="0"/>
              <a:t> μέσω του </a:t>
            </a:r>
            <a:r>
              <a:rPr lang="el-GR" dirty="0" err="1"/>
              <a:t>Instruction</a:t>
            </a:r>
            <a:r>
              <a:rPr lang="el-GR" dirty="0"/>
              <a:t> </a:t>
            </a:r>
            <a:r>
              <a:rPr lang="el-GR" dirty="0" err="1"/>
              <a:t>Register</a:t>
            </a:r>
            <a:r>
              <a:rPr lang="el-GR" dirty="0"/>
              <a:t>:</a:t>
            </a:r>
          </a:p>
          <a:p>
            <a:r>
              <a:rPr lang="en-US" dirty="0"/>
              <a:t>if </a:t>
            </a:r>
            <a:r>
              <a:rPr lang="en-US" dirty="0" err="1"/>
              <a:t>IR_q</a:t>
            </a:r>
            <a:r>
              <a:rPr lang="en-US" dirty="0"/>
              <a:t> = x"80" then</a:t>
            </a:r>
            <a:endParaRPr lang="el-GR" dirty="0"/>
          </a:p>
          <a:p>
            <a:pPr>
              <a:buNone/>
            </a:pPr>
            <a:r>
              <a:rPr lang="el-GR" dirty="0" smtClean="0"/>
              <a:t>	</a:t>
            </a:r>
            <a:r>
              <a:rPr lang="en-US" dirty="0" smtClean="0"/>
              <a:t>  </a:t>
            </a:r>
            <a:r>
              <a:rPr lang="en-US" dirty="0"/>
              <a:t>state &lt;= S_LDSP</a:t>
            </a:r>
            <a:r>
              <a:rPr lang="en-US" dirty="0" smtClean="0"/>
              <a:t>;</a:t>
            </a:r>
            <a:endParaRPr lang="el-GR" dirty="0" smtClean="0"/>
          </a:p>
          <a:p>
            <a:r>
              <a:rPr lang="el-GR" dirty="0"/>
              <a:t>Η εκτέλεση της LDSP πραγματοποιείται σε μία μόνο κατάσταση</a:t>
            </a:r>
            <a:r>
              <a:rPr lang="el-GR" dirty="0" smtClean="0"/>
              <a:t>:</a:t>
            </a:r>
          </a:p>
          <a:p>
            <a:r>
              <a:rPr lang="en-US" dirty="0"/>
              <a:t>when S_LDSP =&gt;</a:t>
            </a:r>
            <a:endParaRPr lang="el-GR" dirty="0"/>
          </a:p>
          <a:p>
            <a:pPr>
              <a:buNone/>
            </a:pPr>
            <a:r>
              <a:rPr lang="el-GR" dirty="0" smtClean="0"/>
              <a:t>	</a:t>
            </a:r>
            <a:r>
              <a:rPr lang="en-US" dirty="0" smtClean="0"/>
              <a:t>  </a:t>
            </a:r>
            <a:r>
              <a:rPr lang="en-US" dirty="0" err="1"/>
              <a:t>SP_q</a:t>
            </a:r>
            <a:r>
              <a:rPr lang="en-US" dirty="0"/>
              <a:t> &lt;= (others=&gt;'0');</a:t>
            </a:r>
            <a:endParaRPr lang="el-GR" dirty="0"/>
          </a:p>
          <a:p>
            <a:pPr>
              <a:buNone/>
            </a:pPr>
            <a:r>
              <a:rPr lang="el-GR" dirty="0" smtClean="0"/>
              <a:t>	 </a:t>
            </a:r>
            <a:r>
              <a:rPr lang="en-US" dirty="0" smtClean="0"/>
              <a:t> </a:t>
            </a:r>
            <a:r>
              <a:rPr lang="en-US" dirty="0" err="1"/>
              <a:t>SP_q</a:t>
            </a:r>
            <a:r>
              <a:rPr lang="en-US" dirty="0"/>
              <a:t>(7 </a:t>
            </a:r>
            <a:r>
              <a:rPr lang="en-US" dirty="0" err="1"/>
              <a:t>downto</a:t>
            </a:r>
            <a:r>
              <a:rPr lang="en-US" dirty="0"/>
              <a:t> 0) &lt;= </a:t>
            </a:r>
            <a:r>
              <a:rPr lang="en-US" dirty="0" err="1"/>
              <a:t>IR_q</a:t>
            </a:r>
            <a:r>
              <a:rPr lang="en-US" dirty="0"/>
              <a:t>;</a:t>
            </a:r>
            <a:endParaRPr lang="el-GR" dirty="0"/>
          </a:p>
          <a:p>
            <a:pPr>
              <a:buNone/>
            </a:pPr>
            <a:r>
              <a:rPr lang="el-GR" dirty="0" smtClean="0"/>
              <a:t>	 </a:t>
            </a:r>
            <a:r>
              <a:rPr lang="en-US" dirty="0" smtClean="0"/>
              <a:t> </a:t>
            </a:r>
            <a:r>
              <a:rPr lang="el-GR" dirty="0" err="1"/>
              <a:t>state</a:t>
            </a:r>
            <a:r>
              <a:rPr lang="el-GR" dirty="0"/>
              <a:t> &lt;= S_FETCH1</a:t>
            </a:r>
            <a:r>
              <a:rPr lang="el-GR" dirty="0" smtClean="0"/>
              <a:t>;</a:t>
            </a:r>
          </a:p>
          <a:p>
            <a:pPr>
              <a:buNone/>
            </a:pPr>
            <a:r>
              <a:rPr lang="el-GR" dirty="0"/>
              <a:t>Κατά την εκτέλεση</a:t>
            </a:r>
            <a:r>
              <a:rPr lang="el-GR" dirty="0" smtClean="0"/>
              <a:t>:</a:t>
            </a:r>
          </a:p>
          <a:p>
            <a:pPr lvl="0"/>
            <a:r>
              <a:rPr lang="el-GR" dirty="0"/>
              <a:t>ο SP αρχικοποιείται,</a:t>
            </a:r>
          </a:p>
          <a:p>
            <a:pPr lvl="0"/>
            <a:r>
              <a:rPr lang="el-GR" dirty="0"/>
              <a:t>τα λιγότερο σημαντικά </a:t>
            </a:r>
            <a:r>
              <a:rPr lang="el-GR" dirty="0" err="1"/>
              <a:t>bits</a:t>
            </a:r>
            <a:r>
              <a:rPr lang="el-GR" dirty="0"/>
              <a:t> φορτώνονται με τιμή που σχετίζεται με την εντολή,</a:t>
            </a:r>
          </a:p>
          <a:p>
            <a:pPr lvl="0"/>
            <a:r>
              <a:rPr lang="el-GR" dirty="0"/>
              <a:t>η FSM επιστρέφει στον κύκλο </a:t>
            </a:r>
            <a:r>
              <a:rPr lang="el-GR" dirty="0" err="1"/>
              <a:t>fetch</a:t>
            </a:r>
            <a:r>
              <a:rPr lang="el-GR" dirty="0"/>
              <a:t>.</a:t>
            </a:r>
          </a:p>
          <a:p>
            <a:pPr>
              <a:buNone/>
            </a:pPr>
            <a:r>
              <a:rPr lang="el-GR" dirty="0"/>
              <a:t>Η εντολή LDSP είναι </a:t>
            </a:r>
            <a:r>
              <a:rPr lang="el-GR" dirty="0" err="1"/>
              <a:t>μονοκυκλική</a:t>
            </a:r>
            <a:r>
              <a:rPr lang="el-GR" dirty="0"/>
              <a:t> και δεν απαιτεί πρόσβαση στη μνήμη</a:t>
            </a:r>
            <a:r>
              <a:rPr lang="el-GR" dirty="0" smtClean="0"/>
              <a:t>.</a:t>
            </a:r>
            <a:endParaRPr lang="el-GR" dirty="0"/>
          </a:p>
          <a:p>
            <a:endParaRPr lang="el-GR" dirty="0"/>
          </a:p>
          <a:p>
            <a:endParaRPr lang="el-G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smtClean="0"/>
              <a:t>Αναγνώριση και εκτέλεση της </a:t>
            </a:r>
            <a:r>
              <a:rPr lang="en-US" b="1" dirty="0" smtClean="0"/>
              <a:t>CALL</a:t>
            </a:r>
            <a:r>
              <a:rPr lang="el-GR" b="1" dirty="0" smtClean="0"/>
              <a:t> (</a:t>
            </a:r>
            <a:r>
              <a:rPr lang="en-US" b="1" dirty="0" smtClean="0"/>
              <a:t>S_CALL1</a:t>
            </a:r>
            <a:r>
              <a:rPr lang="el-GR" b="1" dirty="0" smtClean="0"/>
              <a:t>)</a:t>
            </a:r>
            <a:endParaRPr lang="el-GR" dirty="0"/>
          </a:p>
        </p:txBody>
      </p:sp>
      <p:sp>
        <p:nvSpPr>
          <p:cNvPr id="3" name="2 - Θέση περιεχομένου"/>
          <p:cNvSpPr>
            <a:spLocks noGrp="1"/>
          </p:cNvSpPr>
          <p:nvPr>
            <p:ph idx="1"/>
          </p:nvPr>
        </p:nvSpPr>
        <p:spPr>
          <a:xfrm>
            <a:off x="457200" y="1600200"/>
            <a:ext cx="8229600" cy="4972072"/>
          </a:xfrm>
        </p:spPr>
        <p:txBody>
          <a:bodyPr>
            <a:normAutofit fontScale="70000" lnSpcReduction="20000"/>
          </a:bodyPr>
          <a:lstStyle/>
          <a:p>
            <a:pPr>
              <a:buNone/>
            </a:pPr>
            <a:r>
              <a:rPr lang="el-GR" dirty="0"/>
              <a:t>Η αναγνώριση γίνεται στο στάδιο </a:t>
            </a:r>
            <a:r>
              <a:rPr lang="el-GR" dirty="0" err="1"/>
              <a:t>decode</a:t>
            </a:r>
            <a:r>
              <a:rPr lang="el-GR" dirty="0"/>
              <a:t>:</a:t>
            </a:r>
          </a:p>
          <a:p>
            <a:r>
              <a:rPr lang="en-US" dirty="0" err="1"/>
              <a:t>elsif</a:t>
            </a:r>
            <a:r>
              <a:rPr lang="en-US" dirty="0"/>
              <a:t> </a:t>
            </a:r>
            <a:r>
              <a:rPr lang="en-US" dirty="0" err="1"/>
              <a:t>IR_q</a:t>
            </a:r>
            <a:r>
              <a:rPr lang="en-US" dirty="0"/>
              <a:t> = x"82" then</a:t>
            </a:r>
            <a:endParaRPr lang="el-GR" dirty="0"/>
          </a:p>
          <a:p>
            <a:pPr>
              <a:buNone/>
            </a:pPr>
            <a:r>
              <a:rPr lang="el-GR" dirty="0" smtClean="0"/>
              <a:t>	</a:t>
            </a:r>
            <a:r>
              <a:rPr lang="el-GR" dirty="0"/>
              <a:t> </a:t>
            </a:r>
            <a:r>
              <a:rPr lang="el-GR" dirty="0" smtClean="0"/>
              <a:t>  </a:t>
            </a:r>
            <a:r>
              <a:rPr lang="en-US" dirty="0" smtClean="0"/>
              <a:t>state </a:t>
            </a:r>
            <a:r>
              <a:rPr lang="en-US" dirty="0"/>
              <a:t>&lt;= S_CALL1</a:t>
            </a:r>
            <a:r>
              <a:rPr lang="en-US" dirty="0" smtClean="0"/>
              <a:t>;</a:t>
            </a:r>
            <a:endParaRPr lang="el-GR" dirty="0" smtClean="0"/>
          </a:p>
          <a:p>
            <a:pPr>
              <a:buNone/>
            </a:pPr>
            <a:r>
              <a:rPr lang="el-GR" dirty="0"/>
              <a:t>Στην πρώτη φάση:</a:t>
            </a:r>
          </a:p>
          <a:p>
            <a:pPr lvl="0"/>
            <a:r>
              <a:rPr lang="el-GR" dirty="0"/>
              <a:t>ο AR φορτώνεται με την τιμή του SP,</a:t>
            </a:r>
          </a:p>
          <a:p>
            <a:pPr lvl="0"/>
            <a:r>
              <a:rPr lang="el-GR" dirty="0"/>
              <a:t>ο PC οδηγεί τον data bus,</a:t>
            </a:r>
          </a:p>
          <a:p>
            <a:pPr lvl="0"/>
            <a:r>
              <a:rPr lang="el-GR" dirty="0"/>
              <a:t>ενεργοποιείται η εγγραφή στη μνήμη</a:t>
            </a:r>
            <a:r>
              <a:rPr lang="el-GR" dirty="0" smtClean="0"/>
              <a:t>.</a:t>
            </a:r>
          </a:p>
          <a:p>
            <a:r>
              <a:rPr lang="en-US" dirty="0"/>
              <a:t>when S_CALL1 =&gt;</a:t>
            </a:r>
            <a:endParaRPr lang="el-GR" dirty="0"/>
          </a:p>
          <a:p>
            <a:pPr>
              <a:buNone/>
            </a:pPr>
            <a:r>
              <a:rPr lang="el-GR" dirty="0" smtClean="0"/>
              <a:t>	</a:t>
            </a:r>
            <a:r>
              <a:rPr lang="en-US" dirty="0" smtClean="0"/>
              <a:t>  </a:t>
            </a:r>
            <a:r>
              <a:rPr lang="en-US" dirty="0" err="1"/>
              <a:t>AR_q</a:t>
            </a:r>
            <a:r>
              <a:rPr lang="en-US" dirty="0"/>
              <a:t> &lt;= </a:t>
            </a:r>
            <a:r>
              <a:rPr lang="en-US" dirty="0" err="1"/>
              <a:t>SP_q</a:t>
            </a:r>
            <a:r>
              <a:rPr lang="en-US" dirty="0"/>
              <a:t>;</a:t>
            </a:r>
            <a:endParaRPr lang="el-GR" dirty="0"/>
          </a:p>
          <a:p>
            <a:pPr>
              <a:buNone/>
            </a:pPr>
            <a:r>
              <a:rPr lang="el-GR" dirty="0" smtClean="0"/>
              <a:t>	</a:t>
            </a:r>
            <a:r>
              <a:rPr lang="en-US" dirty="0" smtClean="0"/>
              <a:t>  </a:t>
            </a:r>
            <a:r>
              <a:rPr lang="en-US" dirty="0" err="1"/>
              <a:t>pcbus_s</a:t>
            </a:r>
            <a:r>
              <a:rPr lang="en-US" dirty="0"/>
              <a:t> &lt;= '1';</a:t>
            </a:r>
            <a:endParaRPr lang="el-GR" dirty="0"/>
          </a:p>
          <a:p>
            <a:pPr>
              <a:buNone/>
            </a:pPr>
            <a:r>
              <a:rPr lang="el-GR" dirty="0" smtClean="0"/>
              <a:t>	</a:t>
            </a:r>
            <a:r>
              <a:rPr lang="en-US" dirty="0" smtClean="0"/>
              <a:t>  </a:t>
            </a:r>
            <a:r>
              <a:rPr lang="en-US" dirty="0" err="1"/>
              <a:t>ram_we</a:t>
            </a:r>
            <a:r>
              <a:rPr lang="en-US" dirty="0"/>
              <a:t> &lt;= '1';</a:t>
            </a:r>
            <a:endParaRPr lang="el-GR" dirty="0"/>
          </a:p>
          <a:p>
            <a:pPr>
              <a:buNone/>
            </a:pPr>
            <a:r>
              <a:rPr lang="el-GR" dirty="0" smtClean="0"/>
              <a:t>	</a:t>
            </a:r>
            <a:r>
              <a:rPr lang="en-US" dirty="0" smtClean="0"/>
              <a:t>  </a:t>
            </a:r>
            <a:r>
              <a:rPr lang="el-GR" dirty="0" err="1"/>
              <a:t>state</a:t>
            </a:r>
            <a:r>
              <a:rPr lang="el-GR" dirty="0"/>
              <a:t> &lt;= S_CALL2</a:t>
            </a:r>
            <a:r>
              <a:rPr lang="el-GR" dirty="0" smtClean="0"/>
              <a:t>;</a:t>
            </a:r>
            <a:endParaRPr lang="en-US" dirty="0" smtClean="0"/>
          </a:p>
          <a:p>
            <a:pPr>
              <a:buNone/>
            </a:pPr>
            <a:r>
              <a:rPr lang="el-GR" dirty="0"/>
              <a:t>Με αυτόν τον τρόπο αποθηκεύεται στη μνήμη η διεύθυνση </a:t>
            </a:r>
            <a:r>
              <a:rPr lang="el-GR" dirty="0" smtClean="0"/>
              <a:t>επιστροφής</a:t>
            </a:r>
            <a:r>
              <a:rPr lang="en-US" dirty="0" smtClean="0"/>
              <a:t>.</a:t>
            </a:r>
            <a:endParaRPr lang="el-GR" dirty="0"/>
          </a:p>
          <a:p>
            <a:pPr lvl="0"/>
            <a:endParaRPr lang="el-GR" dirty="0"/>
          </a:p>
          <a:p>
            <a:pPr>
              <a:buNone/>
            </a:pPr>
            <a:endParaRPr lang="el-GR" dirty="0"/>
          </a:p>
          <a:p>
            <a:endParaRPr lang="el-G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n-US" b="1" dirty="0"/>
              <a:t>(</a:t>
            </a:r>
            <a:r>
              <a:rPr lang="en-US" b="1" dirty="0" smtClean="0"/>
              <a:t>S_CALL2)</a:t>
            </a:r>
            <a:endParaRPr lang="el-GR" dirty="0"/>
          </a:p>
        </p:txBody>
      </p:sp>
      <p:sp>
        <p:nvSpPr>
          <p:cNvPr id="3" name="2 - Θέση περιεχομένου"/>
          <p:cNvSpPr>
            <a:spLocks noGrp="1"/>
          </p:cNvSpPr>
          <p:nvPr>
            <p:ph idx="1"/>
          </p:nvPr>
        </p:nvSpPr>
        <p:spPr/>
        <p:txBody>
          <a:bodyPr>
            <a:normAutofit fontScale="85000" lnSpcReduction="10000"/>
          </a:bodyPr>
          <a:lstStyle/>
          <a:p>
            <a:pPr>
              <a:buNone/>
            </a:pPr>
            <a:r>
              <a:rPr lang="el-GR" dirty="0"/>
              <a:t>Στη δεύτερη φάση:</a:t>
            </a:r>
          </a:p>
          <a:p>
            <a:pPr lvl="0"/>
            <a:r>
              <a:rPr lang="el-GR" dirty="0"/>
              <a:t>ο PC φορτώνεται με τη διεύθυνση της </a:t>
            </a:r>
            <a:r>
              <a:rPr lang="el-GR" dirty="0" err="1"/>
              <a:t>υπορουτίνας</a:t>
            </a:r>
            <a:r>
              <a:rPr lang="el-GR" dirty="0"/>
              <a:t>,</a:t>
            </a:r>
          </a:p>
          <a:p>
            <a:pPr lvl="0"/>
            <a:r>
              <a:rPr lang="el-GR" dirty="0"/>
              <a:t>ο SP μειώνεται ώστε να δείχνει τη νέα κορυφή της στοίβας.</a:t>
            </a:r>
          </a:p>
          <a:p>
            <a:r>
              <a:rPr lang="en-US" dirty="0"/>
              <a:t>when S_CALL2 =&gt;</a:t>
            </a:r>
            <a:endParaRPr lang="el-GR" dirty="0"/>
          </a:p>
          <a:p>
            <a:pPr>
              <a:buNone/>
            </a:pPr>
            <a:r>
              <a:rPr lang="en-US" dirty="0" smtClean="0"/>
              <a:t>	  </a:t>
            </a:r>
            <a:r>
              <a:rPr lang="en-US" dirty="0" err="1"/>
              <a:t>PC_q</a:t>
            </a:r>
            <a:r>
              <a:rPr lang="en-US" dirty="0"/>
              <a:t>(7 </a:t>
            </a:r>
            <a:r>
              <a:rPr lang="en-US" dirty="0" err="1"/>
              <a:t>downto</a:t>
            </a:r>
            <a:r>
              <a:rPr lang="en-US" dirty="0"/>
              <a:t> 0) &lt;= </a:t>
            </a:r>
            <a:r>
              <a:rPr lang="en-US" dirty="0" err="1"/>
              <a:t>IR_q</a:t>
            </a:r>
            <a:r>
              <a:rPr lang="en-US" dirty="0"/>
              <a:t>;</a:t>
            </a:r>
            <a:endParaRPr lang="el-GR" dirty="0"/>
          </a:p>
          <a:p>
            <a:pPr>
              <a:buNone/>
            </a:pPr>
            <a:r>
              <a:rPr lang="en-US" dirty="0" smtClean="0"/>
              <a:t>	  </a:t>
            </a:r>
            <a:r>
              <a:rPr lang="en-US" dirty="0" err="1"/>
              <a:t>SP_q</a:t>
            </a:r>
            <a:r>
              <a:rPr lang="en-US" dirty="0"/>
              <a:t> &lt;= </a:t>
            </a:r>
            <a:r>
              <a:rPr lang="en-US" dirty="0" err="1"/>
              <a:t>std_logic_vector</a:t>
            </a:r>
            <a:r>
              <a:rPr lang="en-US" dirty="0"/>
              <a:t>(unsigned(</a:t>
            </a:r>
            <a:r>
              <a:rPr lang="en-US" dirty="0" err="1"/>
              <a:t>SP_q</a:t>
            </a:r>
            <a:r>
              <a:rPr lang="en-US" dirty="0"/>
              <a:t>) - 1);</a:t>
            </a:r>
            <a:endParaRPr lang="el-GR" dirty="0"/>
          </a:p>
          <a:p>
            <a:pPr>
              <a:buNone/>
            </a:pPr>
            <a:r>
              <a:rPr lang="en-US" dirty="0" smtClean="0"/>
              <a:t>	  </a:t>
            </a:r>
            <a:r>
              <a:rPr lang="el-GR" dirty="0" err="1"/>
              <a:t>state</a:t>
            </a:r>
            <a:r>
              <a:rPr lang="el-GR" dirty="0"/>
              <a:t> &lt;= S_FETCH1</a:t>
            </a:r>
            <a:r>
              <a:rPr lang="el-GR" dirty="0" smtClean="0"/>
              <a:t>;</a:t>
            </a:r>
            <a:endParaRPr lang="en-US" dirty="0" smtClean="0"/>
          </a:p>
          <a:p>
            <a:pPr>
              <a:buNone/>
            </a:pPr>
            <a:r>
              <a:rPr lang="el-GR" dirty="0"/>
              <a:t>Μετά την ολοκλήρωση της CALL, ο επεξεργαστής συνεχίζει την εκτέλεση από τη νέα διεύθυνση</a:t>
            </a:r>
            <a:r>
              <a:rPr lang="el-GR" dirty="0" smtClean="0"/>
              <a:t>.</a:t>
            </a:r>
            <a:endParaRPr lang="el-GR" dirty="0"/>
          </a:p>
          <a:p>
            <a:endParaRPr lang="el-G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r>
              <a:rPr lang="el-GR" b="1" dirty="0" smtClean="0"/>
              <a:t>Τελικό Σύνολο καταστάσεων </a:t>
            </a:r>
            <a:r>
              <a:rPr lang="en-US" b="1" dirty="0" smtClean="0"/>
              <a:t>FSM</a:t>
            </a:r>
            <a:endParaRPr lang="el-GR" b="1" dirty="0"/>
          </a:p>
        </p:txBody>
      </p:sp>
      <p:sp>
        <p:nvSpPr>
          <p:cNvPr id="3" name="2 - Θέση περιεχομένου"/>
          <p:cNvSpPr>
            <a:spLocks noGrp="1"/>
          </p:cNvSpPr>
          <p:nvPr>
            <p:ph idx="1"/>
          </p:nvPr>
        </p:nvSpPr>
        <p:spPr/>
        <p:txBody>
          <a:bodyPr>
            <a:normAutofit fontScale="77500" lnSpcReduction="20000"/>
          </a:bodyPr>
          <a:lstStyle/>
          <a:p>
            <a:pPr lvl="0"/>
            <a:r>
              <a:rPr lang="el-GR" dirty="0"/>
              <a:t>S_RESET</a:t>
            </a:r>
          </a:p>
          <a:p>
            <a:pPr lvl="0"/>
            <a:r>
              <a:rPr lang="el-GR" dirty="0"/>
              <a:t>S_FETCH1</a:t>
            </a:r>
          </a:p>
          <a:p>
            <a:pPr lvl="0"/>
            <a:r>
              <a:rPr lang="el-GR" dirty="0"/>
              <a:t>S_FETCH2</a:t>
            </a:r>
          </a:p>
          <a:p>
            <a:pPr lvl="0"/>
            <a:r>
              <a:rPr lang="el-GR" dirty="0"/>
              <a:t>S_DECODE</a:t>
            </a:r>
          </a:p>
          <a:p>
            <a:pPr lvl="0"/>
            <a:r>
              <a:rPr lang="el-GR" dirty="0"/>
              <a:t>S_LDSP</a:t>
            </a:r>
          </a:p>
          <a:p>
            <a:pPr lvl="0"/>
            <a:r>
              <a:rPr lang="el-GR" dirty="0"/>
              <a:t>S_CALL1</a:t>
            </a:r>
          </a:p>
          <a:p>
            <a:pPr lvl="0"/>
            <a:r>
              <a:rPr lang="el-GR" dirty="0" smtClean="0"/>
              <a:t>S_CALL2</a:t>
            </a:r>
          </a:p>
          <a:p>
            <a:pPr>
              <a:buNone/>
            </a:pPr>
            <a:r>
              <a:rPr lang="el-GR" dirty="0" smtClean="0"/>
              <a:t>Όπου η </a:t>
            </a:r>
            <a:r>
              <a:rPr lang="el-GR" dirty="0"/>
              <a:t>γενική ροή είναι:</a:t>
            </a:r>
          </a:p>
          <a:p>
            <a:r>
              <a:rPr lang="en-US" dirty="0"/>
              <a:t>RESET → FETCH1 → FETCH2 → DECODE → EXECUTE → </a:t>
            </a:r>
            <a:r>
              <a:rPr lang="en-US" dirty="0" smtClean="0"/>
              <a:t>FETCH1</a:t>
            </a:r>
            <a:endParaRPr lang="el-GR" dirty="0" smtClean="0"/>
          </a:p>
          <a:p>
            <a:pPr>
              <a:buNone/>
            </a:pPr>
            <a:r>
              <a:rPr lang="el-GR" dirty="0"/>
              <a:t>Ανάλογα με την εντολή, το στάδιο </a:t>
            </a:r>
            <a:r>
              <a:rPr lang="el-GR" dirty="0" err="1"/>
              <a:t>execute</a:t>
            </a:r>
            <a:r>
              <a:rPr lang="el-GR" dirty="0"/>
              <a:t> μπορεί να περιλαμβάνει μία ή περισσότερες καταστάσεις</a:t>
            </a:r>
          </a:p>
          <a:p>
            <a:endParaRPr lang="el-G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fontScale="90000"/>
          </a:bodyPr>
          <a:lstStyle/>
          <a:p>
            <a:r>
              <a:rPr lang="el-GR" b="1" dirty="0"/>
              <a:t>Ανάπτυξη </a:t>
            </a:r>
            <a:r>
              <a:rPr lang="el-GR" b="1" dirty="0" err="1"/>
              <a:t>Testbench</a:t>
            </a:r>
            <a:r>
              <a:rPr lang="el-GR" b="1" dirty="0"/>
              <a:t> για τον </a:t>
            </a:r>
            <a:r>
              <a:rPr lang="el-GR" b="1" dirty="0" err="1" smtClean="0"/>
              <a:t>rs_cpu</a:t>
            </a:r>
            <a:endParaRPr lang="el-GR" dirty="0"/>
          </a:p>
        </p:txBody>
      </p:sp>
      <p:sp>
        <p:nvSpPr>
          <p:cNvPr id="3" name="2 - Θέση περιεχομένου"/>
          <p:cNvSpPr>
            <a:spLocks noGrp="1"/>
          </p:cNvSpPr>
          <p:nvPr>
            <p:ph idx="1"/>
          </p:nvPr>
        </p:nvSpPr>
        <p:spPr/>
        <p:txBody>
          <a:bodyPr>
            <a:normAutofit fontScale="92500" lnSpcReduction="10000"/>
          </a:bodyPr>
          <a:lstStyle/>
          <a:p>
            <a:pPr>
              <a:buNone/>
            </a:pPr>
            <a:r>
              <a:rPr lang="el-GR" dirty="0"/>
              <a:t>Το </a:t>
            </a:r>
            <a:r>
              <a:rPr lang="el-GR" dirty="0" err="1"/>
              <a:t>testbench</a:t>
            </a:r>
            <a:r>
              <a:rPr lang="el-GR" dirty="0"/>
              <a:t> περιλαμβάνει:</a:t>
            </a:r>
          </a:p>
          <a:p>
            <a:pPr lvl="0"/>
            <a:r>
              <a:rPr lang="el-GR" dirty="0"/>
              <a:t>Δημιουργία σημάτων για όλες τις θύρες του </a:t>
            </a:r>
            <a:r>
              <a:rPr lang="el-GR" dirty="0" err="1"/>
              <a:t>rs_cpu</a:t>
            </a:r>
            <a:r>
              <a:rPr lang="el-GR" dirty="0"/>
              <a:t>.</a:t>
            </a:r>
          </a:p>
          <a:p>
            <a:pPr lvl="0"/>
            <a:r>
              <a:rPr lang="el-GR" dirty="0"/>
              <a:t>Παραγωγή σήματος ρολογιού (</a:t>
            </a:r>
            <a:r>
              <a:rPr lang="el-GR" dirty="0" err="1"/>
              <a:t>clock</a:t>
            </a:r>
            <a:r>
              <a:rPr lang="el-GR" dirty="0"/>
              <a:t>).</a:t>
            </a:r>
          </a:p>
          <a:p>
            <a:pPr lvl="0"/>
            <a:r>
              <a:rPr lang="el-GR" dirty="0"/>
              <a:t>Παραγωγή σήματος </a:t>
            </a:r>
            <a:r>
              <a:rPr lang="el-GR" dirty="0" err="1"/>
              <a:t>reset</a:t>
            </a:r>
            <a:r>
              <a:rPr lang="el-GR" dirty="0"/>
              <a:t>.</a:t>
            </a:r>
          </a:p>
          <a:p>
            <a:pPr lvl="0"/>
            <a:r>
              <a:rPr lang="el-GR" dirty="0"/>
              <a:t>Σύνδεση</a:t>
            </a:r>
            <a:r>
              <a:rPr lang="en-US" dirty="0"/>
              <a:t> (instantiation) </a:t>
            </a:r>
            <a:r>
              <a:rPr lang="el-GR" dirty="0"/>
              <a:t>του επεξεργαστή ως</a:t>
            </a:r>
            <a:r>
              <a:rPr lang="en-US" dirty="0"/>
              <a:t> DUT (Device Under Test).</a:t>
            </a:r>
            <a:endParaRPr lang="el-GR" dirty="0"/>
          </a:p>
          <a:p>
            <a:pPr>
              <a:buNone/>
            </a:pPr>
            <a:r>
              <a:rPr lang="el-GR" dirty="0"/>
              <a:t>Ο χρονισμός του ρολογιού ορίστηκε στα 20 </a:t>
            </a:r>
            <a:r>
              <a:rPr lang="el-GR" dirty="0" err="1"/>
              <a:t>ns</a:t>
            </a:r>
            <a:r>
              <a:rPr lang="el-GR" dirty="0"/>
              <a:t>, τιμή επαρκής για την παρατήρηση της FSM.</a:t>
            </a:r>
          </a:p>
          <a:p>
            <a:endParaRPr lang="el-G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normAutofit/>
          </a:bodyPr>
          <a:lstStyle/>
          <a:p>
            <a:r>
              <a:rPr lang="el-GR" b="1" dirty="0"/>
              <a:t>Τι ελέγχεται μέσω του </a:t>
            </a:r>
            <a:r>
              <a:rPr lang="el-GR" b="1" dirty="0" err="1" smtClean="0"/>
              <a:t>Testbench</a:t>
            </a:r>
            <a:endParaRPr lang="el-GR" dirty="0"/>
          </a:p>
        </p:txBody>
      </p:sp>
      <p:sp>
        <p:nvSpPr>
          <p:cNvPr id="3" name="2 - Θέση περιεχομένου"/>
          <p:cNvSpPr>
            <a:spLocks noGrp="1"/>
          </p:cNvSpPr>
          <p:nvPr>
            <p:ph idx="1"/>
          </p:nvPr>
        </p:nvSpPr>
        <p:spPr/>
        <p:txBody>
          <a:bodyPr/>
          <a:lstStyle/>
          <a:p>
            <a:pPr>
              <a:buNone/>
            </a:pPr>
            <a:r>
              <a:rPr lang="el-GR" dirty="0"/>
              <a:t>Μέσω της προσομοίωσης μπορούν να ελεγχθούν:</a:t>
            </a:r>
          </a:p>
          <a:p>
            <a:pPr lvl="0"/>
            <a:r>
              <a:rPr lang="el-GR" dirty="0"/>
              <a:t>η σωστή ακολουθία καταστάσεων της FSM,</a:t>
            </a:r>
          </a:p>
          <a:p>
            <a:pPr lvl="0"/>
            <a:r>
              <a:rPr lang="el-GR" dirty="0"/>
              <a:t>η αύξηση του PC,</a:t>
            </a:r>
          </a:p>
          <a:p>
            <a:pPr lvl="0"/>
            <a:r>
              <a:rPr lang="el-GR" dirty="0"/>
              <a:t>η φόρτωση του IR,</a:t>
            </a:r>
          </a:p>
          <a:p>
            <a:pPr lvl="0"/>
            <a:r>
              <a:rPr lang="el-GR" dirty="0"/>
              <a:t>η μεταβολή του SP κατά την LDSP και CALL,</a:t>
            </a:r>
          </a:p>
          <a:p>
            <a:pPr lvl="0"/>
            <a:r>
              <a:rPr lang="el-GR" dirty="0"/>
              <a:t>η εγγραφή στη μνήμη κατά την CALL.</a:t>
            </a:r>
          </a:p>
          <a:p>
            <a:endParaRPr lang="el-G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 Τίτλος"/>
          <p:cNvSpPr>
            <a:spLocks noGrp="1"/>
          </p:cNvSpPr>
          <p:nvPr>
            <p:ph type="title"/>
          </p:nvPr>
        </p:nvSpPr>
        <p:spPr/>
        <p:txBody>
          <a:bodyPr/>
          <a:lstStyle/>
          <a:p>
            <a:r>
              <a:rPr lang="el-GR" b="1" dirty="0" smtClean="0"/>
              <a:t>Προσομοίωση προγράμματος</a:t>
            </a:r>
            <a:endParaRPr lang="el-GR" b="1" dirty="0"/>
          </a:p>
        </p:txBody>
      </p:sp>
      <p:pic>
        <p:nvPicPr>
          <p:cNvPr id="5" name="4 - Θέση περιεχομένου" descr="ChatGPT Image 20 Ιαν 2026, 09_15_04 μ.μ..png"/>
          <p:cNvPicPr>
            <a:picLocks noGrp="1" noChangeAspect="1"/>
          </p:cNvPicPr>
          <p:nvPr>
            <p:ph sz="half" idx="1"/>
          </p:nvPr>
        </p:nvPicPr>
        <p:blipFill>
          <a:blip r:embed="rId2" cstate="print"/>
          <a:stretch>
            <a:fillRect/>
          </a:stretch>
        </p:blipFill>
        <p:spPr>
          <a:xfrm>
            <a:off x="457200" y="2071678"/>
            <a:ext cx="4543428" cy="3929089"/>
          </a:xfrm>
        </p:spPr>
      </p:pic>
      <p:pic>
        <p:nvPicPr>
          <p:cNvPr id="6" name="5 - Θέση περιεχομένου" descr="ChatGPT Image 20 Ιαν 2026, 09_15_10 μ.μ..png"/>
          <p:cNvPicPr>
            <a:picLocks noGrp="1" noChangeAspect="1"/>
          </p:cNvPicPr>
          <p:nvPr>
            <p:ph sz="half" idx="2"/>
          </p:nvPr>
        </p:nvPicPr>
        <p:blipFill>
          <a:blip r:embed="rId3" cstate="print"/>
          <a:stretch>
            <a:fillRect/>
          </a:stretch>
        </p:blipFill>
        <p:spPr>
          <a:xfrm>
            <a:off x="5158845" y="1600200"/>
            <a:ext cx="3699435" cy="5043510"/>
          </a:xfrm>
        </p:spPr>
      </p:pic>
    </p:spTree>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TotalTime>
  <Words>709</Words>
  <Application>Microsoft Office PowerPoint</Application>
  <PresentationFormat>Προβολή στην οθόνη (4:3)</PresentationFormat>
  <Paragraphs>139</Paragraphs>
  <Slides>18</Slides>
  <Notes>0</Notes>
  <HiddenSlides>0</HiddenSlides>
  <MMClips>0</MMClips>
  <ScaleCrop>false</ScaleCrop>
  <HeadingPairs>
    <vt:vector size="4" baseType="variant">
      <vt:variant>
        <vt:lpstr>Θέμα</vt:lpstr>
      </vt:variant>
      <vt:variant>
        <vt:i4>1</vt:i4>
      </vt:variant>
      <vt:variant>
        <vt:lpstr>Τίτλοι διαφανειών</vt:lpstr>
      </vt:variant>
      <vt:variant>
        <vt:i4>18</vt:i4>
      </vt:variant>
    </vt:vector>
  </HeadingPairs>
  <TitlesOfParts>
    <vt:vector size="19" baseType="lpstr">
      <vt:lpstr>Θέμα του Office</vt:lpstr>
      <vt:lpstr>ΓΕΩΡΓΙΟΣ ΜΑΝΤΟΝΙΤΣΑΣ 21183  ΙΩΑΝΝΗΣ ΒΡΑΧΝΟΣ 20088</vt:lpstr>
      <vt:lpstr>Εισαγωγή</vt:lpstr>
      <vt:lpstr>Αρχική αρχιτεκτονική του επεξεργαστή rs_cpu</vt:lpstr>
      <vt:lpstr>Καταχωρητές του αρχικού επεξεργαστή</vt:lpstr>
      <vt:lpstr>Αλλαγές και επεκτάσεις στον rs_cpu</vt:lpstr>
      <vt:lpstr>Προσθήκη Stack Pointer (SP)</vt:lpstr>
      <vt:lpstr>Προσθήκη LDSP (Load Stack Pointer)  και CALL εντολών</vt:lpstr>
      <vt:lpstr>Κύκλος Fetch – Decode – Execute</vt:lpstr>
      <vt:lpstr>Στάδιο Fetch (Ανάκτηση Εντολής)</vt:lpstr>
      <vt:lpstr>Στάδιο Decode (Αποκωδικοποίηση)</vt:lpstr>
      <vt:lpstr>Στάδιο Execute (Εκτέλεση)</vt:lpstr>
      <vt:lpstr>Αναγνώριση και εκτέλεση της LDSP </vt:lpstr>
      <vt:lpstr>Αναγνώριση και εκτέλεση της CALL (S_CALL1)</vt:lpstr>
      <vt:lpstr>(S_CALL2)</vt:lpstr>
      <vt:lpstr>Τελικό Σύνολο καταστάσεων FSM</vt:lpstr>
      <vt:lpstr>Ανάπτυξη Testbench για τον rs_cpu</vt:lpstr>
      <vt:lpstr>Τι ελέγχεται μέσω του Testbench</vt:lpstr>
      <vt:lpstr>Προσομοίωση προγράμματος</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ΓΕΩΡΓΙΟΣ ΜΑΝΤΟΝΙΤΣΑΣ 21183  ΙΩΑΝΝΗΣ ΒΡΑΧΝΟΣ 20088</dc:title>
  <dc:creator>Χρήστης των Windows</dc:creator>
  <cp:lastModifiedBy>Χρήστης των Windows</cp:lastModifiedBy>
  <cp:revision>6</cp:revision>
  <dcterms:created xsi:type="dcterms:W3CDTF">2026-01-29T08:16:35Z</dcterms:created>
  <dcterms:modified xsi:type="dcterms:W3CDTF">2026-01-29T09:15:05Z</dcterms:modified>
</cp:coreProperties>
</file>